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A193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869680" y="-1463040"/>
            <a:ext cx="5029200" cy="5029200"/>
          </a:xfrm>
          <a:prstGeom prst="ellipse">
            <a:avLst/>
          </a:prstGeom>
          <a:ln w="19050">
            <a:solidFill>
              <a:srgbClr val="FFB020">
                <a:alpha val="30000"/>
              </a:srgbClr>
            </a:solidFill>
            <a:prstDash val="solid"/>
          </a:ln>
        </p:spPr>
      </p:sp>
      <p:sp>
        <p:nvSpPr>
          <p:cNvPr id="3" name="Shape 1"/>
          <p:cNvSpPr/>
          <p:nvPr/>
        </p:nvSpPr>
        <p:spPr>
          <a:xfrm>
            <a:off x="9692640" y="-640080"/>
            <a:ext cx="3291840" cy="3291840"/>
          </a:xfrm>
          <a:prstGeom prst="ellipse">
            <a:avLst/>
          </a:prstGeom>
          <a:ln w="19050">
            <a:solidFill>
              <a:srgbClr val="39D2C0">
                <a:alpha val="30000"/>
              </a:srgbClr>
            </a:solidFill>
            <a:prstDash val="solid"/>
          </a:ln>
        </p:spPr>
      </p:sp>
      <p:sp>
        <p:nvSpPr>
          <p:cNvPr id="4" name="Shape 2"/>
          <p:cNvSpPr/>
          <p:nvPr/>
        </p:nvSpPr>
        <p:spPr>
          <a:xfrm>
            <a:off x="10469880" y="1920240"/>
            <a:ext cx="822960" cy="822960"/>
          </a:xfrm>
          <a:prstGeom prst="ellipse">
            <a:avLst/>
          </a:prstGeom>
          <a:solidFill>
            <a:srgbClr val="FFB020">
              <a:alpha val="20000"/>
            </a:srgbClr>
          </a:solidFill>
          <a:ln w="15875">
            <a:solidFill>
              <a:srgbClr val="FFB020"/>
            </a:solidFill>
            <a:prstDash val="solid"/>
          </a:ln>
        </p:spPr>
      </p:sp>
      <p:sp>
        <p:nvSpPr>
          <p:cNvPr id="5" name="Shape 3"/>
          <p:cNvSpPr/>
          <p:nvPr/>
        </p:nvSpPr>
        <p:spPr>
          <a:xfrm>
            <a:off x="10675620" y="2125980"/>
            <a:ext cx="411480" cy="411480"/>
          </a:xfrm>
          <a:prstGeom prst="lightningBolt">
            <a:avLst/>
          </a:prstGeom>
          <a:solidFill>
            <a:srgbClr val="FFB020"/>
          </a:solidFill>
          <a:ln/>
        </p:spPr>
      </p:sp>
      <p:sp>
        <p:nvSpPr>
          <p:cNvPr id="6" name="Text 4"/>
          <p:cNvSpPr/>
          <p:nvPr/>
        </p:nvSpPr>
        <p:spPr>
          <a:xfrm>
            <a:off x="731520" y="1737360"/>
            <a:ext cx="7315200" cy="365760"/>
          </a:xfrm>
          <a:prstGeom prst="rect">
            <a:avLst/>
          </a:prstGeom>
          <a:noFill/>
          <a:ln/>
        </p:spPr>
        <p:txBody>
          <a:bodyPr wrap="square" rtlCol="0" anchor="ctr"/>
          <a:lstStyle/>
          <a:p>
            <a:pPr indent="0" marL="0">
              <a:buNone/>
            </a:pPr>
            <a:r>
              <a:rPr lang="en-US" sz="1300" b="1" spc="300" kern="0" dirty="0">
                <a:solidFill>
                  <a:srgbClr val="FFB020"/>
                </a:solidFill>
                <a:latin typeface="Calibri" pitchFamily="34" charset="0"/>
                <a:ea typeface="Calibri" pitchFamily="34" charset="-122"/>
                <a:cs typeface="Calibri" pitchFamily="34" charset="-120"/>
              </a:rPr>
              <a:t>ΔΙΠΛΩΜΑΤΙΚΗ ΕΡΓΑΣΙΑ</a:t>
            </a:r>
            <a:endParaRPr lang="en-US" sz="1300" dirty="0"/>
          </a:p>
        </p:txBody>
      </p:sp>
      <p:sp>
        <p:nvSpPr>
          <p:cNvPr id="7" name="Text 5"/>
          <p:cNvSpPr/>
          <p:nvPr/>
        </p:nvSpPr>
        <p:spPr>
          <a:xfrm>
            <a:off x="731520" y="2148840"/>
            <a:ext cx="9875520" cy="1920240"/>
          </a:xfrm>
          <a:prstGeom prst="rect">
            <a:avLst/>
          </a:prstGeom>
          <a:noFill/>
          <a:ln/>
        </p:spPr>
        <p:txBody>
          <a:bodyPr wrap="square"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Μελέτη του πρωτοκόλλου USB Power Delivery</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με μικροελεγκτή STM32</a:t>
            </a:r>
            <a:endParaRPr lang="en-US" sz="3800" dirty="0"/>
          </a:p>
        </p:txBody>
      </p:sp>
      <p:sp>
        <p:nvSpPr>
          <p:cNvPr id="8" name="Shape 6"/>
          <p:cNvSpPr/>
          <p:nvPr/>
        </p:nvSpPr>
        <p:spPr>
          <a:xfrm>
            <a:off x="749808" y="4343400"/>
            <a:ext cx="2011680" cy="0"/>
          </a:xfrm>
          <a:prstGeom prst="line">
            <a:avLst/>
          </a:prstGeom>
          <a:noFill/>
          <a:ln w="31750">
            <a:solidFill>
              <a:srgbClr val="FFB020"/>
            </a:solidFill>
            <a:prstDash val="solid"/>
          </a:ln>
        </p:spPr>
      </p:sp>
      <p:sp>
        <p:nvSpPr>
          <p:cNvPr id="9" name="Shape 7"/>
          <p:cNvSpPr/>
          <p:nvPr/>
        </p:nvSpPr>
        <p:spPr>
          <a:xfrm>
            <a:off x="731520" y="4617720"/>
            <a:ext cx="7863840" cy="1417320"/>
          </a:xfrm>
          <a:prstGeom prst="roundRect">
            <a:avLst>
              <a:gd name="adj" fmla="val 7742"/>
            </a:avLst>
          </a:prstGeom>
          <a:solidFill>
            <a:srgbClr val="132B47"/>
          </a:solidFill>
          <a:ln/>
        </p:spPr>
      </p:sp>
      <p:sp>
        <p:nvSpPr>
          <p:cNvPr id="10" name="Text 8"/>
          <p:cNvSpPr/>
          <p:nvPr/>
        </p:nvSpPr>
        <p:spPr>
          <a:xfrm>
            <a:off x="1005840" y="4773168"/>
            <a:ext cx="73152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Φωτόπουλος Στέφανος   </a:t>
            </a:r>
            <a:pPr indent="0" marL="0">
              <a:buNone/>
            </a:pPr>
            <a:r>
              <a:rPr lang="en-US" sz="1300" dirty="0">
                <a:solidFill>
                  <a:srgbClr val="B9CDE3"/>
                </a:solidFill>
                <a:latin typeface="Calibri" pitchFamily="34" charset="0"/>
                <a:ea typeface="Calibri" pitchFamily="34" charset="-122"/>
                <a:cs typeface="Calibri" pitchFamily="34" charset="-120"/>
              </a:rPr>
              <a:t>·  Α.Μ.: 4829</a:t>
            </a:r>
            <a:endParaRPr lang="en-US" sz="1400" dirty="0"/>
          </a:p>
        </p:txBody>
      </p:sp>
      <p:sp>
        <p:nvSpPr>
          <p:cNvPr id="11" name="Text 9"/>
          <p:cNvSpPr/>
          <p:nvPr/>
        </p:nvSpPr>
        <p:spPr>
          <a:xfrm>
            <a:off x="1005840" y="5138928"/>
            <a:ext cx="7315200" cy="320040"/>
          </a:xfrm>
          <a:prstGeom prst="rect">
            <a:avLst/>
          </a:prstGeom>
          <a:noFill/>
          <a:ln/>
        </p:spPr>
        <p:txBody>
          <a:bodyPr wrap="square" rtlCol="0" anchor="ctr"/>
          <a:lstStyle/>
          <a:p>
            <a:pPr indent="0" marL="0">
              <a:buNone/>
            </a:pPr>
            <a:r>
              <a:rPr lang="en-US" sz="1250" dirty="0">
                <a:solidFill>
                  <a:srgbClr val="84A0C0"/>
                </a:solidFill>
                <a:latin typeface="Calibri" pitchFamily="34" charset="0"/>
                <a:ea typeface="Calibri" pitchFamily="34" charset="-122"/>
                <a:cs typeface="Calibri" pitchFamily="34" charset="-120"/>
              </a:rPr>
              <a:t>Σεπτέμβριος 2024</a:t>
            </a:r>
            <a:endParaRPr lang="en-US" sz="1250" dirty="0"/>
          </a:p>
        </p:txBody>
      </p:sp>
      <p:sp>
        <p:nvSpPr>
          <p:cNvPr id="12" name="Text 10"/>
          <p:cNvSpPr/>
          <p:nvPr/>
        </p:nvSpPr>
        <p:spPr>
          <a:xfrm>
            <a:off x="1005840" y="5486400"/>
            <a:ext cx="7315200" cy="320040"/>
          </a:xfrm>
          <a:prstGeom prst="rect">
            <a:avLst/>
          </a:prstGeom>
          <a:noFill/>
          <a:ln/>
        </p:spPr>
        <p:txBody>
          <a:bodyPr wrap="square" rtlCol="0" anchor="ctr"/>
          <a:lstStyle/>
          <a:p>
            <a:pPr indent="0" marL="0">
              <a:buNone/>
            </a:pPr>
            <a:r>
              <a:rPr lang="en-US" sz="1250" i="1" dirty="0">
                <a:solidFill>
                  <a:srgbClr val="84A0C0"/>
                </a:solidFill>
                <a:latin typeface="Calibri" pitchFamily="34" charset="0"/>
                <a:ea typeface="Calibri" pitchFamily="34" charset="-122"/>
                <a:cs typeface="Calibri" pitchFamily="34" charset="-120"/>
              </a:rPr>
              <a:t>Επιβλέπων Καθηγητής: Ευθυμίου Αριστείδης</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ΕΙΣΑΓΩΓΉ</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Τι είναι το USB Power Delivery;</a:t>
            </a:r>
            <a:endParaRPr lang="en-US" sz="3000" dirty="0"/>
          </a:p>
        </p:txBody>
      </p:sp>
      <p:sp>
        <p:nvSpPr>
          <p:cNvPr id="4" name="Text 2"/>
          <p:cNvSpPr/>
          <p:nvPr/>
        </p:nvSpPr>
        <p:spPr>
          <a:xfrm>
            <a:off x="640080" y="1600200"/>
            <a:ext cx="10881360" cy="685800"/>
          </a:xfrm>
          <a:prstGeom prst="rect">
            <a:avLst/>
          </a:prstGeom>
          <a:noFill/>
          <a:ln/>
        </p:spPr>
        <p:txBody>
          <a:bodyPr wrap="square" rtlCol="0" anchor="ctr"/>
          <a:lstStyle/>
          <a:p>
            <a:pPr indent="0" marL="0">
              <a:buNone/>
            </a:pPr>
            <a:r>
              <a:rPr lang="en-US" sz="1450" i="1" dirty="0">
                <a:solidFill>
                  <a:srgbClr val="B9CDE3"/>
                </a:solidFill>
                <a:latin typeface="Calibri" pitchFamily="34" charset="0"/>
                <a:ea typeface="Calibri" pitchFamily="34" charset="-122"/>
                <a:cs typeface="Calibri" pitchFamily="34" charset="-120"/>
              </a:rPr>
              <a:t>Το USB Power Delivery (USB-PD) επεκτείνει τις δυνατότητες ισχύος των προτύπων USB 2.0 και 3.1, επιτρέποντας έξυπνη και ευέλικτη τροφοδοσία μέσω ενός και μόνο καλωδίου.</a:t>
            </a:r>
            <a:endParaRPr lang="en-US" sz="1450" dirty="0"/>
          </a:p>
        </p:txBody>
      </p:sp>
      <p:sp>
        <p:nvSpPr>
          <p:cNvPr id="5" name="Shape 3"/>
          <p:cNvSpPr/>
          <p:nvPr/>
        </p:nvSpPr>
        <p:spPr>
          <a:xfrm>
            <a:off x="640080" y="2606040"/>
            <a:ext cx="2651760" cy="3291840"/>
          </a:xfrm>
          <a:prstGeom prst="roundRect">
            <a:avLst>
              <a:gd name="adj" fmla="val 4138"/>
            </a:avLst>
          </a:prstGeom>
          <a:solidFill>
            <a:srgbClr val="132B47"/>
          </a:solidFill>
          <a:ln/>
          <a:effectLst>
            <a:outerShdw sx="100000" sy="100000" kx="0" ky="0" algn="bl" rotWithShape="0" blurRad="101600" dist="38100" dir="5400000">
              <a:srgbClr val="000000">
                <a:alpha val="35000"/>
              </a:srgbClr>
            </a:outerShdw>
          </a:effectLst>
        </p:spPr>
      </p:sp>
      <p:sp>
        <p:nvSpPr>
          <p:cNvPr id="6" name="Shape 4"/>
          <p:cNvSpPr/>
          <p:nvPr/>
        </p:nvSpPr>
        <p:spPr>
          <a:xfrm>
            <a:off x="1600200" y="2926080"/>
            <a:ext cx="731520" cy="731520"/>
          </a:xfrm>
          <a:prstGeom prst="ellipse">
            <a:avLst/>
          </a:prstGeom>
          <a:solidFill>
            <a:srgbClr val="FFB020">
              <a:alpha val="20000"/>
            </a:srgbClr>
          </a:solidFill>
          <a:ln w="15875">
            <a:solidFill>
              <a:srgbClr val="FFB020"/>
            </a:solidFill>
            <a:prstDash val="solid"/>
          </a:ln>
        </p:spPr>
      </p:sp>
      <p:sp>
        <p:nvSpPr>
          <p:cNvPr id="7" name="Shape 5"/>
          <p:cNvSpPr/>
          <p:nvPr/>
        </p:nvSpPr>
        <p:spPr>
          <a:xfrm>
            <a:off x="1783080" y="3108960"/>
            <a:ext cx="365760" cy="365760"/>
          </a:xfrm>
          <a:prstGeom prst="lightningBolt">
            <a:avLst/>
          </a:prstGeom>
          <a:solidFill>
            <a:srgbClr val="FFB020"/>
          </a:solidFill>
          <a:ln/>
        </p:spPr>
      </p:sp>
      <p:sp>
        <p:nvSpPr>
          <p:cNvPr id="8" name="Text 6"/>
          <p:cNvSpPr/>
          <p:nvPr/>
        </p:nvSpPr>
        <p:spPr>
          <a:xfrm>
            <a:off x="822960" y="3840480"/>
            <a:ext cx="2286000" cy="640080"/>
          </a:xfrm>
          <a:prstGeom prst="rect">
            <a:avLst/>
          </a:prstGeom>
          <a:noFill/>
          <a:ln/>
        </p:spPr>
        <p:txBody>
          <a:bodyPr wrap="square"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Σύνδεσμος Type-C™</a:t>
            </a:r>
            <a:endParaRPr lang="en-US" sz="1450" dirty="0"/>
          </a:p>
        </p:txBody>
      </p:sp>
      <p:sp>
        <p:nvSpPr>
          <p:cNvPr id="9" name="Text 7"/>
          <p:cNvSpPr/>
          <p:nvPr/>
        </p:nvSpPr>
        <p:spPr>
          <a:xfrm>
            <a:off x="868680" y="4480560"/>
            <a:ext cx="2194560" cy="1325880"/>
          </a:xfrm>
          <a:prstGeom prst="rect">
            <a:avLst/>
          </a:prstGeom>
          <a:noFill/>
          <a:ln/>
        </p:spPr>
        <p:txBody>
          <a:bodyPr wrap="square" rtlCol="0" anchor="ctr"/>
          <a:lstStyle/>
          <a:p>
            <a:pPr algn="ctr" indent="0" marL="0">
              <a:buNone/>
            </a:pPr>
            <a:r>
              <a:rPr lang="en-US" sz="1150" dirty="0">
                <a:solidFill>
                  <a:srgbClr val="B9CDE3"/>
                </a:solidFill>
                <a:latin typeface="Calibri" pitchFamily="34" charset="0"/>
                <a:ea typeface="Calibri" pitchFamily="34" charset="-122"/>
                <a:cs typeface="Calibri" pitchFamily="34" charset="-120"/>
              </a:rPr>
              <a:t>Παροχή ισχύος έως 100W μέσω ενός ενιαίου, αντιστρέψιμου συνδέσμου.</a:t>
            </a:r>
            <a:endParaRPr lang="en-US" sz="1150" dirty="0"/>
          </a:p>
        </p:txBody>
      </p:sp>
      <p:sp>
        <p:nvSpPr>
          <p:cNvPr id="10" name="Shape 8"/>
          <p:cNvSpPr/>
          <p:nvPr/>
        </p:nvSpPr>
        <p:spPr>
          <a:xfrm>
            <a:off x="3520440" y="2606040"/>
            <a:ext cx="2651760" cy="3291840"/>
          </a:xfrm>
          <a:prstGeom prst="roundRect">
            <a:avLst>
              <a:gd name="adj" fmla="val 4138"/>
            </a:avLst>
          </a:prstGeom>
          <a:solidFill>
            <a:srgbClr val="132B47"/>
          </a:solidFill>
          <a:ln/>
          <a:effectLst>
            <a:outerShdw sx="100000" sy="100000" kx="0" ky="0" algn="bl" rotWithShape="0" blurRad="101600" dist="38100" dir="5400000">
              <a:srgbClr val="000000">
                <a:alpha val="35000"/>
              </a:srgbClr>
            </a:outerShdw>
          </a:effectLst>
        </p:spPr>
      </p:sp>
      <p:sp>
        <p:nvSpPr>
          <p:cNvPr id="11" name="Shape 9"/>
          <p:cNvSpPr/>
          <p:nvPr/>
        </p:nvSpPr>
        <p:spPr>
          <a:xfrm>
            <a:off x="4480560" y="2926080"/>
            <a:ext cx="731520" cy="731520"/>
          </a:xfrm>
          <a:prstGeom prst="ellipse">
            <a:avLst/>
          </a:prstGeom>
          <a:solidFill>
            <a:srgbClr val="39D2C0">
              <a:alpha val="20000"/>
            </a:srgbClr>
          </a:solidFill>
          <a:ln w="15875">
            <a:solidFill>
              <a:srgbClr val="39D2C0"/>
            </a:solidFill>
            <a:prstDash val="solid"/>
          </a:ln>
        </p:spPr>
      </p:sp>
      <p:sp>
        <p:nvSpPr>
          <p:cNvPr id="12" name="Shape 10"/>
          <p:cNvSpPr/>
          <p:nvPr/>
        </p:nvSpPr>
        <p:spPr>
          <a:xfrm>
            <a:off x="4663440" y="3108960"/>
            <a:ext cx="365760" cy="365760"/>
          </a:xfrm>
          <a:prstGeom prst="cloud">
            <a:avLst/>
          </a:prstGeom>
          <a:solidFill>
            <a:srgbClr val="39D2C0"/>
          </a:solidFill>
          <a:ln/>
        </p:spPr>
      </p:sp>
      <p:sp>
        <p:nvSpPr>
          <p:cNvPr id="13" name="Text 11"/>
          <p:cNvSpPr/>
          <p:nvPr/>
        </p:nvSpPr>
        <p:spPr>
          <a:xfrm>
            <a:off x="3703320" y="3840480"/>
            <a:ext cx="2286000" cy="640080"/>
          </a:xfrm>
          <a:prstGeom prst="rect">
            <a:avLst/>
          </a:prstGeom>
          <a:noFill/>
          <a:ln/>
        </p:spPr>
        <p:txBody>
          <a:bodyPr wrap="square"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Ευρεία συμβατότητα</a:t>
            </a:r>
            <a:endParaRPr lang="en-US" sz="1450" dirty="0"/>
          </a:p>
        </p:txBody>
      </p:sp>
      <p:sp>
        <p:nvSpPr>
          <p:cNvPr id="14" name="Text 12"/>
          <p:cNvSpPr/>
          <p:nvPr/>
        </p:nvSpPr>
        <p:spPr>
          <a:xfrm>
            <a:off x="3749040" y="4480560"/>
            <a:ext cx="2194560" cy="1325880"/>
          </a:xfrm>
          <a:prstGeom prst="rect">
            <a:avLst/>
          </a:prstGeom>
          <a:noFill/>
          <a:ln/>
        </p:spPr>
        <p:txBody>
          <a:bodyPr wrap="square" rtlCol="0" anchor="ctr"/>
          <a:lstStyle/>
          <a:p>
            <a:pPr algn="ctr" indent="0" marL="0">
              <a:buNone/>
            </a:pPr>
            <a:r>
              <a:rPr lang="en-US" sz="1150" dirty="0">
                <a:solidFill>
                  <a:srgbClr val="B9CDE3"/>
                </a:solidFill>
                <a:latin typeface="Calibri" pitchFamily="34" charset="0"/>
                <a:ea typeface="Calibri" pitchFamily="34" charset="-122"/>
                <a:cs typeface="Calibri" pitchFamily="34" charset="-120"/>
              </a:rPr>
              <a:t>Τροφοδοτεί φορητούς υπολογιστές, οθόνες και συσκευές γρήγορης φόρτισης.</a:t>
            </a:r>
            <a:endParaRPr lang="en-US" sz="1150" dirty="0"/>
          </a:p>
        </p:txBody>
      </p:sp>
      <p:sp>
        <p:nvSpPr>
          <p:cNvPr id="15" name="Shape 13"/>
          <p:cNvSpPr/>
          <p:nvPr/>
        </p:nvSpPr>
        <p:spPr>
          <a:xfrm>
            <a:off x="6400800" y="2606040"/>
            <a:ext cx="2651760" cy="3291840"/>
          </a:xfrm>
          <a:prstGeom prst="roundRect">
            <a:avLst>
              <a:gd name="adj" fmla="val 4138"/>
            </a:avLst>
          </a:prstGeom>
          <a:solidFill>
            <a:srgbClr val="132B47"/>
          </a:solidFill>
          <a:ln/>
          <a:effectLst>
            <a:outerShdw sx="100000" sy="100000" kx="0" ky="0" algn="bl" rotWithShape="0" blurRad="101600" dist="38100" dir="5400000">
              <a:srgbClr val="000000">
                <a:alpha val="35000"/>
              </a:srgbClr>
            </a:outerShdw>
          </a:effectLst>
        </p:spPr>
      </p:sp>
      <p:sp>
        <p:nvSpPr>
          <p:cNvPr id="16" name="Shape 14"/>
          <p:cNvSpPr/>
          <p:nvPr/>
        </p:nvSpPr>
        <p:spPr>
          <a:xfrm>
            <a:off x="7360920" y="2926080"/>
            <a:ext cx="731520" cy="731520"/>
          </a:xfrm>
          <a:prstGeom prst="ellipse">
            <a:avLst/>
          </a:prstGeom>
          <a:solidFill>
            <a:srgbClr val="FFB020">
              <a:alpha val="20000"/>
            </a:srgbClr>
          </a:solidFill>
          <a:ln w="15875">
            <a:solidFill>
              <a:srgbClr val="FFB020"/>
            </a:solidFill>
            <a:prstDash val="solid"/>
          </a:ln>
        </p:spPr>
      </p:sp>
      <p:sp>
        <p:nvSpPr>
          <p:cNvPr id="17" name="Shape 15"/>
          <p:cNvSpPr/>
          <p:nvPr/>
        </p:nvSpPr>
        <p:spPr>
          <a:xfrm>
            <a:off x="7543800" y="3108960"/>
            <a:ext cx="365760" cy="365760"/>
          </a:xfrm>
          <a:prstGeom prst="circularArrow">
            <a:avLst/>
          </a:prstGeom>
          <a:solidFill>
            <a:srgbClr val="FFB020"/>
          </a:solidFill>
          <a:ln/>
        </p:spPr>
      </p:sp>
      <p:sp>
        <p:nvSpPr>
          <p:cNvPr id="18" name="Text 16"/>
          <p:cNvSpPr/>
          <p:nvPr/>
        </p:nvSpPr>
        <p:spPr>
          <a:xfrm>
            <a:off x="6583680" y="3840480"/>
            <a:ext cx="2286000" cy="640080"/>
          </a:xfrm>
          <a:prstGeom prst="rect">
            <a:avLst/>
          </a:prstGeom>
          <a:noFill/>
          <a:ln/>
        </p:spPr>
        <p:txBody>
          <a:bodyPr wrap="square"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Αυτόματη διαπραγμάτευση</a:t>
            </a:r>
            <a:endParaRPr lang="en-US" sz="1450" dirty="0"/>
          </a:p>
        </p:txBody>
      </p:sp>
      <p:sp>
        <p:nvSpPr>
          <p:cNvPr id="19" name="Text 17"/>
          <p:cNvSpPr/>
          <p:nvPr/>
        </p:nvSpPr>
        <p:spPr>
          <a:xfrm>
            <a:off x="6629400" y="4480560"/>
            <a:ext cx="2194560" cy="1325880"/>
          </a:xfrm>
          <a:prstGeom prst="rect">
            <a:avLst/>
          </a:prstGeom>
          <a:noFill/>
          <a:ln/>
        </p:spPr>
        <p:txBody>
          <a:bodyPr wrap="square" rtlCol="0" anchor="ctr"/>
          <a:lstStyle/>
          <a:p>
            <a:pPr algn="ctr" indent="0" marL="0">
              <a:buNone/>
            </a:pPr>
            <a:r>
              <a:rPr lang="en-US" sz="1150" dirty="0">
                <a:solidFill>
                  <a:srgbClr val="B9CDE3"/>
                </a:solidFill>
                <a:latin typeface="Calibri" pitchFamily="34" charset="0"/>
                <a:ea typeface="Calibri" pitchFamily="34" charset="-122"/>
                <a:cs typeface="Calibri" pitchFamily="34" charset="-120"/>
              </a:rPr>
              <a:t>Η βέλτιστη τάση και το ρεύμα καθορίζονται δυναμικά μεταξύ των συσκευών.</a:t>
            </a:r>
            <a:endParaRPr lang="en-US" sz="1150" dirty="0"/>
          </a:p>
        </p:txBody>
      </p:sp>
      <p:sp>
        <p:nvSpPr>
          <p:cNvPr id="20" name="Shape 18"/>
          <p:cNvSpPr/>
          <p:nvPr/>
        </p:nvSpPr>
        <p:spPr>
          <a:xfrm>
            <a:off x="9281160" y="2606040"/>
            <a:ext cx="2651760" cy="3291840"/>
          </a:xfrm>
          <a:prstGeom prst="roundRect">
            <a:avLst>
              <a:gd name="adj" fmla="val 4138"/>
            </a:avLst>
          </a:prstGeom>
          <a:solidFill>
            <a:srgbClr val="132B47"/>
          </a:solidFill>
          <a:ln/>
          <a:effectLst>
            <a:outerShdw sx="100000" sy="100000" kx="0" ky="0" algn="bl" rotWithShape="0" blurRad="101600" dist="38100" dir="5400000">
              <a:srgbClr val="000000">
                <a:alpha val="35000"/>
              </a:srgbClr>
            </a:outerShdw>
          </a:effectLst>
        </p:spPr>
      </p:sp>
      <p:sp>
        <p:nvSpPr>
          <p:cNvPr id="21" name="Shape 19"/>
          <p:cNvSpPr/>
          <p:nvPr/>
        </p:nvSpPr>
        <p:spPr>
          <a:xfrm>
            <a:off x="10241280" y="2926080"/>
            <a:ext cx="731520" cy="731520"/>
          </a:xfrm>
          <a:prstGeom prst="ellipse">
            <a:avLst/>
          </a:prstGeom>
          <a:solidFill>
            <a:srgbClr val="39D2C0">
              <a:alpha val="20000"/>
            </a:srgbClr>
          </a:solidFill>
          <a:ln w="15875">
            <a:solidFill>
              <a:srgbClr val="39D2C0"/>
            </a:solidFill>
            <a:prstDash val="solid"/>
          </a:ln>
        </p:spPr>
      </p:sp>
      <p:sp>
        <p:nvSpPr>
          <p:cNvPr id="22" name="Shape 20"/>
          <p:cNvSpPr/>
          <p:nvPr/>
        </p:nvSpPr>
        <p:spPr>
          <a:xfrm>
            <a:off x="10424160" y="3108960"/>
            <a:ext cx="365760" cy="365760"/>
          </a:xfrm>
          <a:prstGeom prst="cloudCallout">
            <a:avLst/>
          </a:prstGeom>
          <a:solidFill>
            <a:srgbClr val="39D2C0"/>
          </a:solidFill>
          <a:ln/>
        </p:spPr>
      </p:sp>
      <p:sp>
        <p:nvSpPr>
          <p:cNvPr id="23" name="Text 21"/>
          <p:cNvSpPr/>
          <p:nvPr/>
        </p:nvSpPr>
        <p:spPr>
          <a:xfrm>
            <a:off x="9464040" y="3840480"/>
            <a:ext cx="2286000" cy="640080"/>
          </a:xfrm>
          <a:prstGeom prst="rect">
            <a:avLst/>
          </a:prstGeom>
          <a:noFill/>
          <a:ln/>
        </p:spPr>
        <p:txBody>
          <a:bodyPr wrap="square"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Αμφίδρομη επικοινωνία</a:t>
            </a:r>
            <a:endParaRPr lang="en-US" sz="1450" dirty="0"/>
          </a:p>
        </p:txBody>
      </p:sp>
      <p:sp>
        <p:nvSpPr>
          <p:cNvPr id="24" name="Text 22"/>
          <p:cNvSpPr/>
          <p:nvPr/>
        </p:nvSpPr>
        <p:spPr>
          <a:xfrm>
            <a:off x="9509760" y="4480560"/>
            <a:ext cx="2194560" cy="1325880"/>
          </a:xfrm>
          <a:prstGeom prst="rect">
            <a:avLst/>
          </a:prstGeom>
          <a:noFill/>
          <a:ln/>
        </p:spPr>
        <p:txBody>
          <a:bodyPr wrap="square" rtlCol="0" anchor="ctr"/>
          <a:lstStyle/>
          <a:p>
            <a:pPr algn="ctr" indent="0" marL="0">
              <a:buNone/>
            </a:pPr>
            <a:r>
              <a:rPr lang="en-US" sz="1150" dirty="0">
                <a:solidFill>
                  <a:srgbClr val="B9CDE3"/>
                </a:solidFill>
                <a:latin typeface="Calibri" pitchFamily="34" charset="0"/>
                <a:ea typeface="Calibri" pitchFamily="34" charset="-122"/>
                <a:cs typeface="Calibri" pitchFamily="34" charset="-120"/>
              </a:rPr>
              <a:t>Η επικοινωνία USB-PD πραγματοποιείται μεταξύ δύο συνδεδεμένων συσκευών.</a:t>
            </a:r>
            <a:endParaRPr lang="en-US" sz="1150" dirty="0"/>
          </a:p>
        </p:txBody>
      </p:sp>
      <p:sp>
        <p:nvSpPr>
          <p:cNvPr id="25" name="Text 23"/>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26" name="Shape 24"/>
          <p:cNvSpPr/>
          <p:nvPr/>
        </p:nvSpPr>
        <p:spPr>
          <a:xfrm>
            <a:off x="11475720" y="6419088"/>
            <a:ext cx="384048" cy="384048"/>
          </a:xfrm>
          <a:prstGeom prst="ellipse">
            <a:avLst/>
          </a:prstGeom>
          <a:solidFill>
            <a:srgbClr val="FFB020"/>
          </a:solidFill>
          <a:ln/>
        </p:spPr>
      </p:sp>
      <p:sp>
        <p:nvSpPr>
          <p:cNvPr id="27" name="Text 25"/>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ΠΡΩΤΌΚΟΛΛΟ USB-PD</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Power Data Objects (PDO)</a:t>
            </a:r>
            <a:endParaRPr lang="en-US" sz="3000" dirty="0"/>
          </a:p>
        </p:txBody>
      </p:sp>
      <p:sp>
        <p:nvSpPr>
          <p:cNvPr id="4" name="Text 2"/>
          <p:cNvSpPr/>
          <p:nvPr/>
        </p:nvSpPr>
        <p:spPr>
          <a:xfrm>
            <a:off x="640080" y="1600200"/>
            <a:ext cx="10881360" cy="777240"/>
          </a:xfrm>
          <a:prstGeom prst="rect">
            <a:avLst/>
          </a:prstGeom>
          <a:noFill/>
          <a:ln/>
        </p:spPr>
        <p:txBody>
          <a:bodyPr wrap="square" rtlCol="0" anchor="ctr"/>
          <a:lstStyle/>
          <a:p>
            <a:pPr indent="0" marL="0">
              <a:buNone/>
            </a:pPr>
            <a:r>
              <a:rPr lang="en-US" sz="1350" dirty="0">
                <a:solidFill>
                  <a:srgbClr val="B9CDE3"/>
                </a:solidFill>
                <a:latin typeface="Calibri" pitchFamily="34" charset="0"/>
                <a:ea typeface="Calibri" pitchFamily="34" charset="-122"/>
                <a:cs typeface="Calibri" pitchFamily="34" charset="-120"/>
              </a:rPr>
              <a:t>Τα PDO είναι δομές δεδομένων του USB-PD που καθορίζουν τις δυνατότητες ισχύος μιας συσκευής παροχής, διασφαλίζοντας ασφαλή τροφοδότηση μεταξύ συνδεδεμένων συσκευών Type-C.</a:t>
            </a:r>
            <a:endParaRPr lang="en-US" sz="1350" dirty="0"/>
          </a:p>
        </p:txBody>
      </p:sp>
      <p:sp>
        <p:nvSpPr>
          <p:cNvPr id="5" name="Shape 3"/>
          <p:cNvSpPr/>
          <p:nvPr/>
        </p:nvSpPr>
        <p:spPr>
          <a:xfrm>
            <a:off x="640080" y="2514600"/>
            <a:ext cx="5257800" cy="3429000"/>
          </a:xfrm>
          <a:prstGeom prst="roundRect">
            <a:avLst>
              <a:gd name="adj" fmla="val 3200"/>
            </a:avLst>
          </a:prstGeom>
          <a:solidFill>
            <a:srgbClr val="132B47"/>
          </a:solidFill>
          <a:ln/>
          <a:effectLst>
            <a:outerShdw sx="100000" sy="100000" kx="0" ky="0" algn="bl" rotWithShape="0" blurRad="101600" dist="38100" dir="5400000">
              <a:srgbClr val="000000">
                <a:alpha val="35000"/>
              </a:srgbClr>
            </a:outerShdw>
          </a:effectLst>
        </p:spPr>
      </p:sp>
      <p:sp>
        <p:nvSpPr>
          <p:cNvPr id="6" name="Shape 4"/>
          <p:cNvSpPr/>
          <p:nvPr/>
        </p:nvSpPr>
        <p:spPr>
          <a:xfrm>
            <a:off x="982980" y="2811780"/>
            <a:ext cx="594360" cy="594360"/>
          </a:xfrm>
          <a:prstGeom prst="ellipse">
            <a:avLst/>
          </a:prstGeom>
          <a:solidFill>
            <a:srgbClr val="FFB020">
              <a:alpha val="20000"/>
            </a:srgbClr>
          </a:solidFill>
          <a:ln w="15875">
            <a:solidFill>
              <a:srgbClr val="FFB020"/>
            </a:solidFill>
            <a:prstDash val="solid"/>
          </a:ln>
        </p:spPr>
      </p:sp>
      <p:sp>
        <p:nvSpPr>
          <p:cNvPr id="7" name="Shape 5"/>
          <p:cNvSpPr/>
          <p:nvPr/>
        </p:nvSpPr>
        <p:spPr>
          <a:xfrm>
            <a:off x="1131570" y="2960370"/>
            <a:ext cx="297180" cy="297180"/>
          </a:xfrm>
          <a:prstGeom prst="chevron">
            <a:avLst/>
          </a:prstGeom>
          <a:solidFill>
            <a:srgbClr val="FFB020"/>
          </a:solidFill>
          <a:ln/>
        </p:spPr>
      </p:sp>
      <p:sp>
        <p:nvSpPr>
          <p:cNvPr id="8" name="Text 6"/>
          <p:cNvSpPr/>
          <p:nvPr/>
        </p:nvSpPr>
        <p:spPr>
          <a:xfrm>
            <a:off x="1691640" y="2807208"/>
            <a:ext cx="3977640" cy="64008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Fixed Supply PDO</a:t>
            </a:r>
            <a:endParaRPr lang="en-US" sz="1600" dirty="0"/>
          </a:p>
        </p:txBody>
      </p:sp>
      <p:sp>
        <p:nvSpPr>
          <p:cNvPr id="9" name="Text 7"/>
          <p:cNvSpPr/>
          <p:nvPr/>
        </p:nvSpPr>
        <p:spPr>
          <a:xfrm>
            <a:off x="1005840" y="3657600"/>
            <a:ext cx="4526280" cy="2057400"/>
          </a:xfrm>
          <a:prstGeom prst="rect">
            <a:avLst/>
          </a:prstGeom>
          <a:noFill/>
          <a:ln/>
        </p:spPr>
        <p:txBody>
          <a:bodyPr wrap="square" rtlCol="0" anchor="t"/>
          <a:lstStyle/>
          <a:p>
            <a:pPr algn="l" marL="177800" indent="-177800">
              <a:spcAft>
                <a:spcPts val="1200"/>
              </a:spcAft>
              <a:buSzPct val="100000"/>
              <a:buChar char="▪"/>
            </a:pPr>
            <a:r>
              <a:rPr lang="en-US" sz="1250" dirty="0">
                <a:solidFill>
                  <a:srgbClr val="B9CDE3"/>
                </a:solidFill>
                <a:latin typeface="Calibri" pitchFamily="34" charset="0"/>
                <a:ea typeface="Calibri" pitchFamily="34" charset="-122"/>
                <a:cs typeface="Calibri" pitchFamily="34" charset="-120"/>
              </a:rPr>
              <a:t>Καθορίζει σταθερά επίπεδα τάσης που παρέχει η συσκευή παροχής (source).</a:t>
            </a:r>
            <a:endParaRPr lang="en-US" sz="1250" dirty="0"/>
          </a:p>
          <a:p>
            <a:pPr algn="l" marL="177800" indent="-177800">
              <a:spcAft>
                <a:spcPts val="1200"/>
              </a:spcAft>
              <a:buSzPct val="100000"/>
              <a:buChar char="▪"/>
            </a:pPr>
            <a:r>
              <a:rPr lang="en-US" sz="1250" dirty="0">
                <a:solidFill>
                  <a:srgbClr val="B9CDE3"/>
                </a:solidFill>
                <a:latin typeface="Calibri" pitchFamily="34" charset="0"/>
                <a:ea typeface="Calibri" pitchFamily="34" charset="-122"/>
                <a:cs typeface="Calibri" pitchFamily="34" charset="-120"/>
              </a:rPr>
              <a:t>Τυπικές τάσεις στον μικροελεγκτή μας: 5V, 9V, 12V.</a:t>
            </a:r>
            <a:endParaRPr lang="en-US" sz="1250" dirty="0"/>
          </a:p>
          <a:p>
            <a:pPr algn="l" marL="177800" indent="-177800">
              <a:spcAft>
                <a:spcPts val="1200"/>
              </a:spcAft>
              <a:buSzPct val="100000"/>
              <a:buChar char="▪"/>
            </a:pPr>
            <a:r>
              <a:rPr lang="en-US" sz="1250" dirty="0">
                <a:solidFill>
                  <a:srgbClr val="B9CDE3"/>
                </a:solidFill>
                <a:latin typeface="Calibri" pitchFamily="34" charset="0"/>
                <a:ea typeface="Calibri" pitchFamily="34" charset="-122"/>
                <a:cs typeface="Calibri" pitchFamily="34" charset="-120"/>
              </a:rPr>
              <a:t>Το εύρος ρεύματος ορίζεται από τον κατασκευαστή, κοντά στα 3A.</a:t>
            </a:r>
            <a:endParaRPr lang="en-US" sz="1250" dirty="0"/>
          </a:p>
        </p:txBody>
      </p:sp>
      <p:sp>
        <p:nvSpPr>
          <p:cNvPr id="10" name="Shape 8"/>
          <p:cNvSpPr/>
          <p:nvPr/>
        </p:nvSpPr>
        <p:spPr>
          <a:xfrm>
            <a:off x="6263640" y="2514600"/>
            <a:ext cx="5257800" cy="3429000"/>
          </a:xfrm>
          <a:prstGeom prst="roundRect">
            <a:avLst>
              <a:gd name="adj" fmla="val 3200"/>
            </a:avLst>
          </a:prstGeom>
          <a:solidFill>
            <a:srgbClr val="132B47"/>
          </a:solidFill>
          <a:ln/>
          <a:effectLst>
            <a:outerShdw sx="100000" sy="100000" kx="0" ky="0" algn="bl" rotWithShape="0" blurRad="101600" dist="38100" dir="5400000">
              <a:srgbClr val="000000">
                <a:alpha val="35000"/>
              </a:srgbClr>
            </a:outerShdw>
          </a:effectLst>
        </p:spPr>
      </p:sp>
      <p:sp>
        <p:nvSpPr>
          <p:cNvPr id="11" name="Shape 9"/>
          <p:cNvSpPr/>
          <p:nvPr/>
        </p:nvSpPr>
        <p:spPr>
          <a:xfrm>
            <a:off x="6606540" y="2811780"/>
            <a:ext cx="594360" cy="594360"/>
          </a:xfrm>
          <a:prstGeom prst="ellipse">
            <a:avLst/>
          </a:prstGeom>
          <a:solidFill>
            <a:srgbClr val="39D2C0">
              <a:alpha val="20000"/>
            </a:srgbClr>
          </a:solidFill>
          <a:ln w="15875">
            <a:solidFill>
              <a:srgbClr val="39D2C0"/>
            </a:solidFill>
            <a:prstDash val="solid"/>
          </a:ln>
        </p:spPr>
      </p:sp>
      <p:sp>
        <p:nvSpPr>
          <p:cNvPr id="12" name="Shape 10"/>
          <p:cNvSpPr/>
          <p:nvPr/>
        </p:nvSpPr>
        <p:spPr>
          <a:xfrm>
            <a:off x="6755130" y="2960370"/>
            <a:ext cx="297180" cy="297180"/>
          </a:xfrm>
          <a:prstGeom prst="swooshArrow">
            <a:avLst/>
          </a:prstGeom>
          <a:solidFill>
            <a:srgbClr val="39D2C0"/>
          </a:solidFill>
          <a:ln/>
        </p:spPr>
      </p:sp>
      <p:sp>
        <p:nvSpPr>
          <p:cNvPr id="13" name="Text 11"/>
          <p:cNvSpPr/>
          <p:nvPr/>
        </p:nvSpPr>
        <p:spPr>
          <a:xfrm>
            <a:off x="7315200" y="2807208"/>
            <a:ext cx="3977640" cy="64008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APDO (Adjustable PDO)</a:t>
            </a:r>
            <a:endParaRPr lang="en-US" sz="1600" dirty="0"/>
          </a:p>
        </p:txBody>
      </p:sp>
      <p:sp>
        <p:nvSpPr>
          <p:cNvPr id="14" name="Text 12"/>
          <p:cNvSpPr/>
          <p:nvPr/>
        </p:nvSpPr>
        <p:spPr>
          <a:xfrm>
            <a:off x="6629400" y="3657600"/>
            <a:ext cx="4526280" cy="2057400"/>
          </a:xfrm>
          <a:prstGeom prst="rect">
            <a:avLst/>
          </a:prstGeom>
          <a:noFill/>
          <a:ln/>
        </p:spPr>
        <p:txBody>
          <a:bodyPr wrap="square" rtlCol="0" anchor="t"/>
          <a:lstStyle/>
          <a:p>
            <a:pPr algn="l" marL="177800" indent="-177800">
              <a:spcAft>
                <a:spcPts val="1200"/>
              </a:spcAft>
              <a:buSzPct val="100000"/>
              <a:buChar char="▪"/>
            </a:pPr>
            <a:r>
              <a:rPr lang="en-US" sz="1250" dirty="0">
                <a:solidFill>
                  <a:srgbClr val="B9CDE3"/>
                </a:solidFill>
                <a:latin typeface="Calibri" pitchFamily="34" charset="0"/>
                <a:ea typeface="Calibri" pitchFamily="34" charset="-122"/>
                <a:cs typeface="Calibri" pitchFamily="34" charset="-120"/>
              </a:rPr>
              <a:t>Επιτρέπει δυναμική ρύθμιση τάσης και ρεύματος εξόδου.</a:t>
            </a:r>
            <a:endParaRPr lang="en-US" sz="1250" dirty="0"/>
          </a:p>
          <a:p>
            <a:pPr algn="l" marL="177800" indent="-177800">
              <a:spcAft>
                <a:spcPts val="1200"/>
              </a:spcAft>
              <a:buSzPct val="100000"/>
              <a:buChar char="▪"/>
            </a:pPr>
            <a:r>
              <a:rPr lang="en-US" sz="1250" dirty="0">
                <a:solidFill>
                  <a:srgbClr val="B9CDE3"/>
                </a:solidFill>
                <a:latin typeface="Calibri" pitchFamily="34" charset="0"/>
                <a:ea typeface="Calibri" pitchFamily="34" charset="-122"/>
                <a:cs typeface="Calibri" pitchFamily="34" charset="-120"/>
              </a:rPr>
              <a:t>Εύρος τάσης: 3.3V έως 11V.</a:t>
            </a:r>
            <a:endParaRPr lang="en-US" sz="1250" dirty="0"/>
          </a:p>
          <a:p>
            <a:pPr algn="l" marL="177800" indent="-177800">
              <a:spcAft>
                <a:spcPts val="1200"/>
              </a:spcAft>
              <a:buSzPct val="100000"/>
              <a:buChar char="▪"/>
            </a:pPr>
            <a:r>
              <a:rPr lang="en-US" sz="1250" dirty="0">
                <a:solidFill>
                  <a:srgbClr val="B9CDE3"/>
                </a:solidFill>
                <a:latin typeface="Calibri" pitchFamily="34" charset="0"/>
                <a:ea typeface="Calibri" pitchFamily="34" charset="-122"/>
                <a:cs typeface="Calibri" pitchFamily="34" charset="-120"/>
              </a:rPr>
              <a:t>Ρυθμιζόμενο ρεύμα: από 0A έως 3A.</a:t>
            </a:r>
            <a:endParaRPr lang="en-US" sz="1250" dirty="0"/>
          </a:p>
        </p:txBody>
      </p:sp>
      <p:sp>
        <p:nvSpPr>
          <p:cNvPr id="15" name="Text 13"/>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16" name="Shape 14"/>
          <p:cNvSpPr/>
          <p:nvPr/>
        </p:nvSpPr>
        <p:spPr>
          <a:xfrm>
            <a:off x="11475720" y="6419088"/>
            <a:ext cx="384048" cy="384048"/>
          </a:xfrm>
          <a:prstGeom prst="ellipse">
            <a:avLst/>
          </a:prstGeom>
          <a:solidFill>
            <a:srgbClr val="FFB020"/>
          </a:solidFill>
          <a:ln/>
        </p:spPr>
      </p:sp>
      <p:sp>
        <p:nvSpPr>
          <p:cNvPr id="17" name="Text 15"/>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ΠΡΩΤΌΚΟΛΛΟ USB-PD</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Request Data Objects (RDO)</a:t>
            </a:r>
            <a:endParaRPr lang="en-US" sz="3000" dirty="0"/>
          </a:p>
        </p:txBody>
      </p:sp>
      <p:sp>
        <p:nvSpPr>
          <p:cNvPr id="4" name="Text 2"/>
          <p:cNvSpPr/>
          <p:nvPr/>
        </p:nvSpPr>
        <p:spPr>
          <a:xfrm>
            <a:off x="640080" y="1600200"/>
            <a:ext cx="10881360" cy="777240"/>
          </a:xfrm>
          <a:prstGeom prst="rect">
            <a:avLst/>
          </a:prstGeom>
          <a:noFill/>
          <a:ln/>
        </p:spPr>
        <p:txBody>
          <a:bodyPr wrap="square" rtlCol="0" anchor="ctr"/>
          <a:lstStyle/>
          <a:p>
            <a:pPr indent="0" marL="0">
              <a:buNone/>
            </a:pPr>
            <a:r>
              <a:rPr lang="en-US" sz="1350" dirty="0">
                <a:solidFill>
                  <a:srgbClr val="B9CDE3"/>
                </a:solidFill>
                <a:latin typeface="Calibri" pitchFamily="34" charset="0"/>
                <a:ea typeface="Calibri" pitchFamily="34" charset="-122"/>
                <a:cs typeface="Calibri" pitchFamily="34" charset="-120"/>
              </a:rPr>
              <a:t>Τα RDO καθορίζουν τις παραμέτρους ισχύος που ζητά μια συσκευή καταναλωτή (sink) από μια συσκευή παροχής (source) και είναι κρίσιμα για τη διαπραγμάτευση της παροχής.</a:t>
            </a:r>
            <a:endParaRPr lang="en-US" sz="1350" dirty="0"/>
          </a:p>
        </p:txBody>
      </p:sp>
      <p:sp>
        <p:nvSpPr>
          <p:cNvPr id="5" name="Shape 3"/>
          <p:cNvSpPr/>
          <p:nvPr/>
        </p:nvSpPr>
        <p:spPr>
          <a:xfrm>
            <a:off x="640080" y="2606040"/>
            <a:ext cx="2651760" cy="3246120"/>
          </a:xfrm>
          <a:prstGeom prst="roundRect">
            <a:avLst>
              <a:gd name="adj" fmla="val 4138"/>
            </a:avLst>
          </a:prstGeom>
          <a:solidFill>
            <a:srgbClr val="132B47"/>
          </a:solidFill>
          <a:ln/>
          <a:effectLst>
            <a:outerShdw sx="100000" sy="100000" kx="0" ky="0" algn="bl" rotWithShape="0" blurRad="101600" dist="38100" dir="5400000">
              <a:srgbClr val="000000">
                <a:alpha val="35000"/>
              </a:srgbClr>
            </a:outerShdw>
          </a:effectLst>
        </p:spPr>
      </p:sp>
      <p:sp>
        <p:nvSpPr>
          <p:cNvPr id="6" name="Shape 4"/>
          <p:cNvSpPr/>
          <p:nvPr/>
        </p:nvSpPr>
        <p:spPr>
          <a:xfrm>
            <a:off x="891540" y="2857500"/>
            <a:ext cx="502920" cy="502920"/>
          </a:xfrm>
          <a:prstGeom prst="ellipse">
            <a:avLst/>
          </a:prstGeom>
          <a:solidFill>
            <a:srgbClr val="FFB020"/>
          </a:solidFill>
          <a:ln/>
        </p:spPr>
      </p:sp>
      <p:sp>
        <p:nvSpPr>
          <p:cNvPr id="7" name="Text 5"/>
          <p:cNvSpPr/>
          <p:nvPr/>
        </p:nvSpPr>
        <p:spPr>
          <a:xfrm>
            <a:off x="891540" y="2857500"/>
            <a:ext cx="502920" cy="502920"/>
          </a:xfrm>
          <a:prstGeom prst="rect">
            <a:avLst/>
          </a:prstGeom>
          <a:noFill/>
          <a:ln/>
        </p:spPr>
        <p:txBody>
          <a:bodyPr wrap="square" rtlCol="0" anchor="ctr"/>
          <a:lstStyle/>
          <a:p>
            <a:pPr algn="ctr" indent="0" marL="0">
              <a:buNone/>
            </a:pPr>
            <a:r>
              <a:rPr lang="en-US" sz="1500" b="1" dirty="0">
                <a:solidFill>
                  <a:srgbClr val="17110A"/>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868680" y="3611880"/>
            <a:ext cx="2194560" cy="54864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Επιλογή PDO</a:t>
            </a:r>
            <a:endParaRPr lang="en-US" sz="1350" dirty="0"/>
          </a:p>
        </p:txBody>
      </p:sp>
      <p:sp>
        <p:nvSpPr>
          <p:cNvPr id="9" name="Text 7"/>
          <p:cNvSpPr/>
          <p:nvPr/>
        </p:nvSpPr>
        <p:spPr>
          <a:xfrm>
            <a:off x="868680" y="4160520"/>
            <a:ext cx="2194560" cy="1554480"/>
          </a:xfrm>
          <a:prstGeom prst="rect">
            <a:avLst/>
          </a:prstGeom>
          <a:noFill/>
          <a:ln/>
        </p:spPr>
        <p:txBody>
          <a:bodyPr wrap="square" rtlCol="0" anchor="ctr"/>
          <a:lstStyle/>
          <a:p>
            <a:pPr indent="0" marL="0">
              <a:buNone/>
            </a:pPr>
            <a:r>
              <a:rPr lang="en-US" sz="1100" dirty="0">
                <a:solidFill>
                  <a:srgbClr val="B9CDE3"/>
                </a:solidFill>
                <a:latin typeface="Calibri" pitchFamily="34" charset="0"/>
                <a:ea typeface="Calibri" pitchFamily="34" charset="-122"/>
                <a:cs typeface="Calibri" pitchFamily="34" charset="-120"/>
              </a:rPr>
              <a:t>Μόλις επιλεγεί το κατάλληλο SRC PDO, η συσκευή SNK δημιουργεί το αντίστοιχο RDO.</a:t>
            </a:r>
            <a:endParaRPr lang="en-US" sz="1100" dirty="0"/>
          </a:p>
        </p:txBody>
      </p:sp>
      <p:sp>
        <p:nvSpPr>
          <p:cNvPr id="10" name="Shape 8"/>
          <p:cNvSpPr/>
          <p:nvPr/>
        </p:nvSpPr>
        <p:spPr>
          <a:xfrm>
            <a:off x="3520440" y="2606040"/>
            <a:ext cx="2651760" cy="3246120"/>
          </a:xfrm>
          <a:prstGeom prst="roundRect">
            <a:avLst>
              <a:gd name="adj" fmla="val 4138"/>
            </a:avLst>
          </a:prstGeom>
          <a:solidFill>
            <a:srgbClr val="132B47"/>
          </a:solidFill>
          <a:ln/>
          <a:effectLst>
            <a:outerShdw sx="100000" sy="100000" kx="0" ky="0" algn="bl" rotWithShape="0" blurRad="101600" dist="38100" dir="5400000">
              <a:srgbClr val="000000">
                <a:alpha val="35000"/>
              </a:srgbClr>
            </a:outerShdw>
          </a:effectLst>
        </p:spPr>
      </p:sp>
      <p:sp>
        <p:nvSpPr>
          <p:cNvPr id="11" name="Shape 9"/>
          <p:cNvSpPr/>
          <p:nvPr/>
        </p:nvSpPr>
        <p:spPr>
          <a:xfrm>
            <a:off x="3771900" y="2857500"/>
            <a:ext cx="502920" cy="502920"/>
          </a:xfrm>
          <a:prstGeom prst="ellipse">
            <a:avLst/>
          </a:prstGeom>
          <a:solidFill>
            <a:srgbClr val="39D2C0"/>
          </a:solidFill>
          <a:ln/>
        </p:spPr>
      </p:sp>
      <p:sp>
        <p:nvSpPr>
          <p:cNvPr id="12" name="Text 10"/>
          <p:cNvSpPr/>
          <p:nvPr/>
        </p:nvSpPr>
        <p:spPr>
          <a:xfrm>
            <a:off x="3771900" y="2857500"/>
            <a:ext cx="502920" cy="502920"/>
          </a:xfrm>
          <a:prstGeom prst="rect">
            <a:avLst/>
          </a:prstGeom>
          <a:noFill/>
          <a:ln/>
        </p:spPr>
        <p:txBody>
          <a:bodyPr wrap="square" rtlCol="0" anchor="ctr"/>
          <a:lstStyle/>
          <a:p>
            <a:pPr algn="ctr" indent="0" marL="0">
              <a:buNone/>
            </a:pPr>
            <a:r>
              <a:rPr lang="en-US" sz="1500" b="1" dirty="0">
                <a:solidFill>
                  <a:srgbClr val="17110A"/>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3749040" y="3611880"/>
            <a:ext cx="2194560" cy="54864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Πεδία του RDO</a:t>
            </a:r>
            <a:endParaRPr lang="en-US" sz="1350" dirty="0"/>
          </a:p>
        </p:txBody>
      </p:sp>
      <p:sp>
        <p:nvSpPr>
          <p:cNvPr id="14" name="Text 12"/>
          <p:cNvSpPr/>
          <p:nvPr/>
        </p:nvSpPr>
        <p:spPr>
          <a:xfrm>
            <a:off x="3749040" y="4160520"/>
            <a:ext cx="2194560" cy="1554480"/>
          </a:xfrm>
          <a:prstGeom prst="rect">
            <a:avLst/>
          </a:prstGeom>
          <a:noFill/>
          <a:ln/>
        </p:spPr>
        <p:txBody>
          <a:bodyPr wrap="square" rtlCol="0" anchor="ctr"/>
          <a:lstStyle/>
          <a:p>
            <a:pPr indent="0" marL="0">
              <a:buNone/>
            </a:pPr>
            <a:r>
              <a:rPr lang="en-US" sz="1100" dirty="0">
                <a:solidFill>
                  <a:srgbClr val="B9CDE3"/>
                </a:solidFill>
                <a:latin typeface="Calibri" pitchFamily="34" charset="0"/>
                <a:ea typeface="Calibri" pitchFamily="34" charset="-122"/>
                <a:cs typeface="Calibri" pitchFamily="34" charset="-120"/>
              </a:rPr>
              <a:t>Index επιλεγμένου SRC PDO, ρεύμα λειτουργίας και μέγιστο ρεύμα λειτουργίας.</a:t>
            </a:r>
            <a:endParaRPr lang="en-US" sz="1100" dirty="0"/>
          </a:p>
        </p:txBody>
      </p:sp>
      <p:sp>
        <p:nvSpPr>
          <p:cNvPr id="15" name="Shape 13"/>
          <p:cNvSpPr/>
          <p:nvPr/>
        </p:nvSpPr>
        <p:spPr>
          <a:xfrm>
            <a:off x="6400800" y="2606040"/>
            <a:ext cx="2651760" cy="3246120"/>
          </a:xfrm>
          <a:prstGeom prst="roundRect">
            <a:avLst>
              <a:gd name="adj" fmla="val 4138"/>
            </a:avLst>
          </a:prstGeom>
          <a:solidFill>
            <a:srgbClr val="132B47"/>
          </a:solidFill>
          <a:ln/>
          <a:effectLst>
            <a:outerShdw sx="100000" sy="100000" kx="0" ky="0" algn="bl" rotWithShape="0" blurRad="101600" dist="38100" dir="5400000">
              <a:srgbClr val="000000">
                <a:alpha val="35000"/>
              </a:srgbClr>
            </a:outerShdw>
          </a:effectLst>
        </p:spPr>
      </p:sp>
      <p:sp>
        <p:nvSpPr>
          <p:cNvPr id="16" name="Shape 14"/>
          <p:cNvSpPr/>
          <p:nvPr/>
        </p:nvSpPr>
        <p:spPr>
          <a:xfrm>
            <a:off x="6652260" y="2857500"/>
            <a:ext cx="502920" cy="502920"/>
          </a:xfrm>
          <a:prstGeom prst="ellipse">
            <a:avLst/>
          </a:prstGeom>
          <a:solidFill>
            <a:srgbClr val="FFB020"/>
          </a:solidFill>
          <a:ln/>
        </p:spPr>
      </p:sp>
      <p:sp>
        <p:nvSpPr>
          <p:cNvPr id="17" name="Text 15"/>
          <p:cNvSpPr/>
          <p:nvPr/>
        </p:nvSpPr>
        <p:spPr>
          <a:xfrm>
            <a:off x="6652260" y="2857500"/>
            <a:ext cx="502920" cy="502920"/>
          </a:xfrm>
          <a:prstGeom prst="rect">
            <a:avLst/>
          </a:prstGeom>
          <a:noFill/>
          <a:ln/>
        </p:spPr>
        <p:txBody>
          <a:bodyPr wrap="square" rtlCol="0" anchor="ctr"/>
          <a:lstStyle/>
          <a:p>
            <a:pPr algn="ctr" indent="0" marL="0">
              <a:buNone/>
            </a:pPr>
            <a:r>
              <a:rPr lang="en-US" sz="1500" b="1" dirty="0">
                <a:solidFill>
                  <a:srgbClr val="17110A"/>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6629400" y="3611880"/>
            <a:ext cx="2194560" cy="54864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Αξιολόγηση από τη πηγή</a:t>
            </a:r>
            <a:endParaRPr lang="en-US" sz="1350" dirty="0"/>
          </a:p>
        </p:txBody>
      </p:sp>
      <p:sp>
        <p:nvSpPr>
          <p:cNvPr id="19" name="Text 17"/>
          <p:cNvSpPr/>
          <p:nvPr/>
        </p:nvSpPr>
        <p:spPr>
          <a:xfrm>
            <a:off x="6629400" y="4160520"/>
            <a:ext cx="2194560" cy="1554480"/>
          </a:xfrm>
          <a:prstGeom prst="rect">
            <a:avLst/>
          </a:prstGeom>
          <a:noFill/>
          <a:ln/>
        </p:spPr>
        <p:txBody>
          <a:bodyPr wrap="square" rtlCol="0" anchor="ctr"/>
          <a:lstStyle/>
          <a:p>
            <a:pPr indent="0" marL="0">
              <a:buNone/>
            </a:pPr>
            <a:r>
              <a:rPr lang="en-US" sz="1100" dirty="0">
                <a:solidFill>
                  <a:srgbClr val="B9CDE3"/>
                </a:solidFill>
                <a:latin typeface="Calibri" pitchFamily="34" charset="0"/>
                <a:ea typeface="Calibri" pitchFamily="34" charset="-122"/>
                <a:cs typeface="Calibri" pitchFamily="34" charset="-120"/>
              </a:rPr>
              <a:t>Η συσκευή παροχής αξιολογεί αν μπορεί να καλύψει το αίτημα και ρυθμίζει ανάλογα.</a:t>
            </a:r>
            <a:endParaRPr lang="en-US" sz="1100" dirty="0"/>
          </a:p>
        </p:txBody>
      </p:sp>
      <p:sp>
        <p:nvSpPr>
          <p:cNvPr id="20" name="Shape 18"/>
          <p:cNvSpPr/>
          <p:nvPr/>
        </p:nvSpPr>
        <p:spPr>
          <a:xfrm>
            <a:off x="9281160" y="2606040"/>
            <a:ext cx="2651760" cy="3246120"/>
          </a:xfrm>
          <a:prstGeom prst="roundRect">
            <a:avLst>
              <a:gd name="adj" fmla="val 4138"/>
            </a:avLst>
          </a:prstGeom>
          <a:solidFill>
            <a:srgbClr val="132B47"/>
          </a:solidFill>
          <a:ln/>
          <a:effectLst>
            <a:outerShdw sx="100000" sy="100000" kx="0" ky="0" algn="bl" rotWithShape="0" blurRad="101600" dist="38100" dir="5400000">
              <a:srgbClr val="000000">
                <a:alpha val="35000"/>
              </a:srgbClr>
            </a:outerShdw>
          </a:effectLst>
        </p:spPr>
      </p:sp>
      <p:sp>
        <p:nvSpPr>
          <p:cNvPr id="21" name="Shape 19"/>
          <p:cNvSpPr/>
          <p:nvPr/>
        </p:nvSpPr>
        <p:spPr>
          <a:xfrm>
            <a:off x="9532620" y="2857500"/>
            <a:ext cx="502920" cy="502920"/>
          </a:xfrm>
          <a:prstGeom prst="ellipse">
            <a:avLst/>
          </a:prstGeom>
          <a:solidFill>
            <a:srgbClr val="39D2C0"/>
          </a:solidFill>
          <a:ln/>
        </p:spPr>
      </p:sp>
      <p:sp>
        <p:nvSpPr>
          <p:cNvPr id="22" name="Text 20"/>
          <p:cNvSpPr/>
          <p:nvPr/>
        </p:nvSpPr>
        <p:spPr>
          <a:xfrm>
            <a:off x="9532620" y="2857500"/>
            <a:ext cx="502920" cy="502920"/>
          </a:xfrm>
          <a:prstGeom prst="rect">
            <a:avLst/>
          </a:prstGeom>
          <a:noFill/>
          <a:ln/>
        </p:spPr>
        <p:txBody>
          <a:bodyPr wrap="square" rtlCol="0" anchor="ctr"/>
          <a:lstStyle/>
          <a:p>
            <a:pPr algn="ctr" indent="0" marL="0">
              <a:buNone/>
            </a:pPr>
            <a:r>
              <a:rPr lang="en-US" sz="1500" b="1" dirty="0">
                <a:solidFill>
                  <a:srgbClr val="17110A"/>
                </a:solidFill>
                <a:latin typeface="Cambria" pitchFamily="34" charset="0"/>
                <a:ea typeface="Cambria" pitchFamily="34" charset="-122"/>
                <a:cs typeface="Cambria" pitchFamily="34" charset="-120"/>
              </a:rPr>
              <a:t>4</a:t>
            </a:r>
            <a:endParaRPr lang="en-US" sz="1500" dirty="0"/>
          </a:p>
        </p:txBody>
      </p:sp>
      <p:sp>
        <p:nvSpPr>
          <p:cNvPr id="23" name="Text 21"/>
          <p:cNvSpPr/>
          <p:nvPr/>
        </p:nvSpPr>
        <p:spPr>
          <a:xfrm>
            <a:off x="9509760" y="3611880"/>
            <a:ext cx="2194560" cy="54864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Προεπιλογή ασφαλείας</a:t>
            </a:r>
            <a:endParaRPr lang="en-US" sz="1350" dirty="0"/>
          </a:p>
        </p:txBody>
      </p:sp>
      <p:sp>
        <p:nvSpPr>
          <p:cNvPr id="24" name="Text 22"/>
          <p:cNvSpPr/>
          <p:nvPr/>
        </p:nvSpPr>
        <p:spPr>
          <a:xfrm>
            <a:off x="9509760" y="4160520"/>
            <a:ext cx="2194560" cy="1554480"/>
          </a:xfrm>
          <a:prstGeom prst="rect">
            <a:avLst/>
          </a:prstGeom>
          <a:noFill/>
          <a:ln/>
        </p:spPr>
        <p:txBody>
          <a:bodyPr wrap="square" rtlCol="0" anchor="ctr"/>
          <a:lstStyle/>
          <a:p>
            <a:pPr indent="0" marL="0">
              <a:buNone/>
            </a:pPr>
            <a:r>
              <a:rPr lang="en-US" sz="1100" dirty="0">
                <a:solidFill>
                  <a:srgbClr val="B9CDE3"/>
                </a:solidFill>
                <a:latin typeface="Calibri" pitchFamily="34" charset="0"/>
                <a:ea typeface="Calibri" pitchFamily="34" charset="-122"/>
                <a:cs typeface="Calibri" pitchFamily="34" charset="-120"/>
              </a:rPr>
              <a:t>Αν δεν βρεθεί κατάλληλο PDO, επιλέγεται αυτόματα το προεπιλεγμένο PDO των 5V.</a:t>
            </a:r>
            <a:endParaRPr lang="en-US" sz="1100" dirty="0"/>
          </a:p>
        </p:txBody>
      </p:sp>
      <p:sp>
        <p:nvSpPr>
          <p:cNvPr id="25" name="Text 23"/>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26" name="Shape 24"/>
          <p:cNvSpPr/>
          <p:nvPr/>
        </p:nvSpPr>
        <p:spPr>
          <a:xfrm>
            <a:off x="11475720" y="6419088"/>
            <a:ext cx="384048" cy="384048"/>
          </a:xfrm>
          <a:prstGeom prst="ellipse">
            <a:avLst/>
          </a:prstGeom>
          <a:solidFill>
            <a:srgbClr val="FFB020"/>
          </a:solidFill>
          <a:ln/>
        </p:spPr>
      </p:sp>
      <p:sp>
        <p:nvSpPr>
          <p:cNvPr id="27" name="Text 25"/>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ΛΕΙΤΟΥΡΓΙΚΌΤΗΤΑ</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Πλεονεκτήματα της Διπλής Λειτουργίας (Dual Role)</a:t>
            </a:r>
            <a:endParaRPr lang="en-US" sz="2700" dirty="0"/>
          </a:p>
        </p:txBody>
      </p:sp>
      <p:sp>
        <p:nvSpPr>
          <p:cNvPr id="4" name="Text 2"/>
          <p:cNvSpPr/>
          <p:nvPr/>
        </p:nvSpPr>
        <p:spPr>
          <a:xfrm>
            <a:off x="640080" y="1554480"/>
            <a:ext cx="5486400" cy="3291840"/>
          </a:xfrm>
          <a:prstGeom prst="rect">
            <a:avLst/>
          </a:prstGeom>
          <a:noFill/>
          <a:ln/>
        </p:spPr>
        <p:txBody>
          <a:bodyPr wrap="square" rtlCol="0" anchor="t"/>
          <a:lstStyle/>
          <a:p>
            <a:pPr indent="0" marL="0">
              <a:lnSpc>
                <a:spcPts val="2000"/>
              </a:lnSpc>
              <a:buNone/>
            </a:pPr>
            <a:r>
              <a:rPr lang="en-US" sz="1300" dirty="0">
                <a:solidFill>
                  <a:srgbClr val="B9CDE3"/>
                </a:solidFill>
                <a:latin typeface="Calibri" pitchFamily="34" charset="0"/>
                <a:ea typeface="Calibri" pitchFamily="34" charset="-122"/>
                <a:cs typeface="Calibri" pitchFamily="34" charset="-120"/>
              </a:rPr>
              <a:t>Η τεχνολογία Dual Role επιτρέπει τη μετάδοση ενέργειας και δεδομένων σε αμφίδρομη κατεύθυνση. Ο ρόλος τροφοδοσίας (sink ↔ source) και ο ρόλος δεδομένων (συσκευή ↔ υπολογιστής) μπορούν να εναλλάσσονται ανάλογα με τη χρήση, υπό τον έλεγχο του πρωτοκόλλου USB-PD.</a:t>
            </a:r>
            <a:endParaRPr lang="en-US" sz="1300" dirty="0"/>
          </a:p>
        </p:txBody>
      </p:sp>
      <p:sp>
        <p:nvSpPr>
          <p:cNvPr id="5" name="Shape 3"/>
          <p:cNvSpPr/>
          <p:nvPr/>
        </p:nvSpPr>
        <p:spPr>
          <a:xfrm>
            <a:off x="6309360" y="1463040"/>
            <a:ext cx="5257800" cy="2331720"/>
          </a:xfrm>
          <a:prstGeom prst="roundRect">
            <a:avLst>
              <a:gd name="adj" fmla="val 4706"/>
            </a:avLst>
          </a:prstGeom>
          <a:solidFill>
            <a:srgbClr val="FFFFFF"/>
          </a:solidFill>
          <a:ln/>
          <a:effectLst>
            <a:outerShdw sx="100000" sy="100000" kx="0" ky="0" algn="bl" rotWithShape="0" blurRad="101600" dist="38100" dir="5400000">
              <a:srgbClr val="000000">
                <a:alpha val="35000"/>
              </a:srgbClr>
            </a:outerShdw>
          </a:effectLst>
        </p:spPr>
      </p:sp>
      <p:pic>
        <p:nvPicPr>
          <p:cNvPr id="6" name="Image 0" descr="/home/claude/build/img/image7.png">    </p:cNvPr>
          <p:cNvPicPr>
            <a:picLocks noChangeAspect="1"/>
          </p:cNvPicPr>
          <p:nvPr/>
        </p:nvPicPr>
        <p:blipFill>
          <a:blip r:embed="rId1"/>
          <a:srcRect l="0" r="0" t="0" b="0"/>
          <a:stretch/>
        </p:blipFill>
        <p:spPr>
          <a:xfrm>
            <a:off x="6400800" y="1554480"/>
            <a:ext cx="5074920" cy="2148840"/>
          </a:xfrm>
          <a:prstGeom prst="rect">
            <a:avLst/>
          </a:prstGeom>
        </p:spPr>
      </p:pic>
      <p:sp>
        <p:nvSpPr>
          <p:cNvPr id="7" name="Text 4"/>
          <p:cNvSpPr/>
          <p:nvPr/>
        </p:nvSpPr>
        <p:spPr>
          <a:xfrm>
            <a:off x="6400800" y="3749040"/>
            <a:ext cx="5074920" cy="274320"/>
          </a:xfrm>
          <a:prstGeom prst="rect">
            <a:avLst/>
          </a:prstGeom>
          <a:noFill/>
          <a:ln/>
        </p:spPr>
        <p:txBody>
          <a:bodyPr wrap="square" rtlCol="0" anchor="ctr"/>
          <a:lstStyle/>
          <a:p>
            <a:pPr algn="ctr" indent="0" marL="0">
              <a:buNone/>
            </a:pPr>
            <a:r>
              <a:rPr lang="en-US" sz="1050" i="1" dirty="0">
                <a:solidFill>
                  <a:srgbClr val="84A0C0"/>
                </a:solidFill>
                <a:latin typeface="Calibri" pitchFamily="34" charset="0"/>
                <a:ea typeface="Calibri" pitchFamily="34" charset="-122"/>
                <a:cs typeface="Calibri" pitchFamily="34" charset="-120"/>
              </a:rPr>
              <a:t>Ίδιο καλώδιο, αμφίδρομη τροφοδοσία μεταξύ συσκευών.</a:t>
            </a:r>
            <a:endParaRPr lang="en-US" sz="1050" dirty="0"/>
          </a:p>
        </p:txBody>
      </p:sp>
      <p:sp>
        <p:nvSpPr>
          <p:cNvPr id="8" name="Shape 5"/>
          <p:cNvSpPr/>
          <p:nvPr/>
        </p:nvSpPr>
        <p:spPr>
          <a:xfrm>
            <a:off x="548640" y="4251960"/>
            <a:ext cx="5303520" cy="2057400"/>
          </a:xfrm>
          <a:prstGeom prst="roundRect">
            <a:avLst>
              <a:gd name="adj" fmla="val 5333"/>
            </a:avLst>
          </a:prstGeom>
          <a:solidFill>
            <a:srgbClr val="FFFFFF"/>
          </a:solidFill>
          <a:ln/>
          <a:effectLst>
            <a:outerShdw sx="100000" sy="100000" kx="0" ky="0" algn="bl" rotWithShape="0" blurRad="101600" dist="38100" dir="5400000">
              <a:srgbClr val="000000">
                <a:alpha val="35000"/>
              </a:srgbClr>
            </a:outerShdw>
          </a:effectLst>
        </p:spPr>
      </p:sp>
      <p:pic>
        <p:nvPicPr>
          <p:cNvPr id="9" name="Image 1" descr="/home/claude/build/img/image6.png">    </p:cNvPr>
          <p:cNvPicPr>
            <a:picLocks noChangeAspect="1"/>
          </p:cNvPicPr>
          <p:nvPr/>
        </p:nvPicPr>
        <p:blipFill>
          <a:blip r:embed="rId2"/>
          <a:srcRect l="0" r="0" t="0" b="0"/>
          <a:stretch/>
        </p:blipFill>
        <p:spPr>
          <a:xfrm>
            <a:off x="640080" y="4343400"/>
            <a:ext cx="5120640" cy="1874520"/>
          </a:xfrm>
          <a:prstGeom prst="rect">
            <a:avLst/>
          </a:prstGeom>
        </p:spPr>
      </p:pic>
      <p:sp>
        <p:nvSpPr>
          <p:cNvPr id="10" name="Text 6"/>
          <p:cNvSpPr/>
          <p:nvPr/>
        </p:nvSpPr>
        <p:spPr>
          <a:xfrm>
            <a:off x="640080" y="6272784"/>
            <a:ext cx="5120640" cy="228600"/>
          </a:xfrm>
          <a:prstGeom prst="rect">
            <a:avLst/>
          </a:prstGeom>
          <a:noFill/>
          <a:ln/>
        </p:spPr>
        <p:txBody>
          <a:bodyPr wrap="square" rtlCol="0" anchor="ctr"/>
          <a:lstStyle/>
          <a:p>
            <a:pPr algn="ctr" indent="0" marL="0">
              <a:buNone/>
            </a:pPr>
            <a:r>
              <a:rPr lang="en-US" sz="950" i="1" dirty="0">
                <a:solidFill>
                  <a:srgbClr val="84A0C0"/>
                </a:solidFill>
                <a:latin typeface="Calibri" pitchFamily="34" charset="0"/>
                <a:ea typeface="Calibri" pitchFamily="34" charset="-122"/>
                <a:cs typeface="Calibri" pitchFamily="34" charset="-120"/>
              </a:rPr>
              <a:t>Ένας κοινός προσαρμογέας μπορεί να τροφοδοτήσει πολλαπλές συσκευές.</a:t>
            </a:r>
            <a:endParaRPr lang="en-US" sz="950" dirty="0"/>
          </a:p>
        </p:txBody>
      </p:sp>
      <p:sp>
        <p:nvSpPr>
          <p:cNvPr id="11" name="Shape 7"/>
          <p:cNvSpPr/>
          <p:nvPr/>
        </p:nvSpPr>
        <p:spPr>
          <a:xfrm>
            <a:off x="6400800" y="4343400"/>
            <a:ext cx="5074920" cy="1874520"/>
          </a:xfrm>
          <a:prstGeom prst="roundRect">
            <a:avLst>
              <a:gd name="adj" fmla="val 5854"/>
            </a:avLst>
          </a:prstGeom>
          <a:solidFill>
            <a:srgbClr val="0E2238"/>
          </a:solidFill>
          <a:ln/>
        </p:spPr>
      </p:sp>
      <p:sp>
        <p:nvSpPr>
          <p:cNvPr id="12" name="Shape 8"/>
          <p:cNvSpPr/>
          <p:nvPr/>
        </p:nvSpPr>
        <p:spPr>
          <a:xfrm>
            <a:off x="6789420" y="4732020"/>
            <a:ext cx="594360" cy="594360"/>
          </a:xfrm>
          <a:prstGeom prst="ellipse">
            <a:avLst/>
          </a:prstGeom>
          <a:solidFill>
            <a:srgbClr val="FFB020">
              <a:alpha val="20000"/>
            </a:srgbClr>
          </a:solidFill>
          <a:ln w="15875">
            <a:solidFill>
              <a:srgbClr val="FFB020"/>
            </a:solidFill>
            <a:prstDash val="solid"/>
          </a:ln>
        </p:spPr>
      </p:sp>
      <p:sp>
        <p:nvSpPr>
          <p:cNvPr id="13" name="Shape 9"/>
          <p:cNvSpPr/>
          <p:nvPr/>
        </p:nvSpPr>
        <p:spPr>
          <a:xfrm>
            <a:off x="6938010" y="4880610"/>
            <a:ext cx="297180" cy="297180"/>
          </a:xfrm>
          <a:prstGeom prst="circularArrow">
            <a:avLst/>
          </a:prstGeom>
          <a:solidFill>
            <a:srgbClr val="FFB020"/>
          </a:solidFill>
          <a:ln/>
        </p:spPr>
      </p:sp>
      <p:sp>
        <p:nvSpPr>
          <p:cNvPr id="14" name="Text 10"/>
          <p:cNvSpPr/>
          <p:nvPr/>
        </p:nvSpPr>
        <p:spPr>
          <a:xfrm>
            <a:off x="7589520" y="4572000"/>
            <a:ext cx="3657600" cy="868680"/>
          </a:xfrm>
          <a:prstGeom prst="rect">
            <a:avLst/>
          </a:prstGeom>
          <a:noFill/>
          <a:ln/>
        </p:spPr>
        <p:txBody>
          <a:bodyPr wrap="square"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Sink ↔ Source</a:t>
            </a:r>
            <a:endParaRPr lang="en-US" sz="1450" dirty="0"/>
          </a:p>
          <a:p>
            <a:pPr indent="0" marL="0">
              <a:buNone/>
            </a:pPr>
            <a:r>
              <a:rPr lang="en-US" sz="1450" b="1" dirty="0">
                <a:solidFill>
                  <a:srgbClr val="FFFFFF"/>
                </a:solidFill>
                <a:latin typeface="Cambria" pitchFamily="34" charset="0"/>
                <a:ea typeface="Cambria" pitchFamily="34" charset="-122"/>
                <a:cs typeface="Cambria" pitchFamily="34" charset="-120"/>
              </a:rPr>
              <a:t>Δεδομένα ↔ Host</a:t>
            </a:r>
            <a:endParaRPr lang="en-US" sz="1450" dirty="0"/>
          </a:p>
        </p:txBody>
      </p:sp>
      <p:sp>
        <p:nvSpPr>
          <p:cNvPr id="15" name="Text 11"/>
          <p:cNvSpPr/>
          <p:nvPr/>
        </p:nvSpPr>
        <p:spPr>
          <a:xfrm>
            <a:off x="6675120" y="5532120"/>
            <a:ext cx="4526280" cy="502920"/>
          </a:xfrm>
          <a:prstGeom prst="rect">
            <a:avLst/>
          </a:prstGeom>
          <a:noFill/>
          <a:ln/>
        </p:spPr>
        <p:txBody>
          <a:bodyPr wrap="square" rtlCol="0" anchor="ctr"/>
          <a:lstStyle/>
          <a:p>
            <a:pPr algn="ctr" indent="0" marL="0">
              <a:buNone/>
            </a:pPr>
            <a:r>
              <a:rPr lang="en-US" sz="1050" dirty="0">
                <a:solidFill>
                  <a:srgbClr val="B9CDE3"/>
                </a:solidFill>
                <a:latin typeface="Calibri" pitchFamily="34" charset="0"/>
                <a:ea typeface="Calibri" pitchFamily="34" charset="-122"/>
                <a:cs typeface="Calibri" pitchFamily="34" charset="-120"/>
              </a:rPr>
              <a:t>Ο ρόλος ελέγχεται πλήρως από το πρωτόκολλο USB-PD.</a:t>
            </a:r>
            <a:endParaRPr lang="en-US" sz="1050" dirty="0"/>
          </a:p>
        </p:txBody>
      </p:sp>
      <p:sp>
        <p:nvSpPr>
          <p:cNvPr id="16" name="Text 12"/>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17" name="Shape 13"/>
          <p:cNvSpPr/>
          <p:nvPr/>
        </p:nvSpPr>
        <p:spPr>
          <a:xfrm>
            <a:off x="11475720" y="6419088"/>
            <a:ext cx="384048" cy="384048"/>
          </a:xfrm>
          <a:prstGeom prst="ellipse">
            <a:avLst/>
          </a:prstGeom>
          <a:solidFill>
            <a:srgbClr val="FFB020"/>
          </a:solidFill>
          <a:ln/>
        </p:spPr>
      </p:sp>
      <p:sp>
        <p:nvSpPr>
          <p:cNvPr id="18" name="Text 14"/>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ΥΛΙΚΌ</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Αρχιτεκτονική του Μικροελεγκτή STM32G474RE</a:t>
            </a:r>
            <a:endParaRPr lang="en-US" sz="2700" dirty="0"/>
          </a:p>
        </p:txBody>
      </p:sp>
      <p:sp>
        <p:nvSpPr>
          <p:cNvPr id="4" name="Text 2"/>
          <p:cNvSpPr/>
          <p:nvPr/>
        </p:nvSpPr>
        <p:spPr>
          <a:xfrm>
            <a:off x="640080" y="1572768"/>
            <a:ext cx="10881360" cy="457200"/>
          </a:xfrm>
          <a:prstGeom prst="rect">
            <a:avLst/>
          </a:prstGeom>
          <a:noFill/>
          <a:ln/>
        </p:spPr>
        <p:txBody>
          <a:bodyPr wrap="square" rtlCol="0" anchor="ctr"/>
          <a:lstStyle/>
          <a:p>
            <a:pPr indent="0" marL="0">
              <a:buNone/>
            </a:pPr>
            <a:r>
              <a:rPr lang="en-US" sz="1350" i="1" dirty="0">
                <a:solidFill>
                  <a:srgbClr val="B9CDE3"/>
                </a:solidFill>
                <a:latin typeface="Calibri" pitchFamily="34" charset="0"/>
                <a:ea typeface="Calibri" pitchFamily="34" charset="-122"/>
                <a:cs typeface="Calibri" pitchFamily="34" charset="-120"/>
              </a:rPr>
              <a:t>Ο σύνδεσμος JP1 στην πλακέτα του μετατροπέα buck-boost επιλέγει την πηγή τάσης VIN.</a:t>
            </a:r>
            <a:endParaRPr lang="en-US" sz="1350" dirty="0"/>
          </a:p>
        </p:txBody>
      </p:sp>
      <p:sp>
        <p:nvSpPr>
          <p:cNvPr id="5" name="Shape 3"/>
          <p:cNvSpPr/>
          <p:nvPr/>
        </p:nvSpPr>
        <p:spPr>
          <a:xfrm>
            <a:off x="731520" y="2057400"/>
            <a:ext cx="3931920" cy="4434840"/>
          </a:xfrm>
          <a:prstGeom prst="roundRect">
            <a:avLst>
              <a:gd name="adj" fmla="val 2791"/>
            </a:avLst>
          </a:prstGeom>
          <a:solidFill>
            <a:srgbClr val="FFFFFF"/>
          </a:solidFill>
          <a:ln/>
          <a:effectLst>
            <a:outerShdw sx="100000" sy="100000" kx="0" ky="0" algn="bl" rotWithShape="0" blurRad="101600" dist="38100" dir="5400000">
              <a:srgbClr val="000000">
                <a:alpha val="35000"/>
              </a:srgbClr>
            </a:outerShdw>
          </a:effectLst>
        </p:spPr>
      </p:sp>
      <p:pic>
        <p:nvPicPr>
          <p:cNvPr id="6" name="Image 0" descr="/home/claude/build/img/image8.png">    </p:cNvPr>
          <p:cNvPicPr>
            <a:picLocks noChangeAspect="1"/>
          </p:cNvPicPr>
          <p:nvPr/>
        </p:nvPicPr>
        <p:blipFill>
          <a:blip r:embed="rId1"/>
          <a:srcRect l="0" r="0" t="0" b="0"/>
          <a:stretch/>
        </p:blipFill>
        <p:spPr>
          <a:xfrm>
            <a:off x="822960" y="2148840"/>
            <a:ext cx="3749040" cy="4251960"/>
          </a:xfrm>
          <a:prstGeom prst="rect">
            <a:avLst/>
          </a:prstGeom>
        </p:spPr>
      </p:pic>
      <p:sp>
        <p:nvSpPr>
          <p:cNvPr id="7" name="Shape 4"/>
          <p:cNvSpPr/>
          <p:nvPr/>
        </p:nvSpPr>
        <p:spPr>
          <a:xfrm>
            <a:off x="5120640" y="2286000"/>
            <a:ext cx="6309360" cy="1645920"/>
          </a:xfrm>
          <a:prstGeom prst="roundRect">
            <a:avLst>
              <a:gd name="adj" fmla="val 6667"/>
            </a:avLst>
          </a:prstGeom>
          <a:solidFill>
            <a:srgbClr val="132B47"/>
          </a:solidFill>
          <a:ln/>
          <a:effectLst>
            <a:outerShdw sx="100000" sy="100000" kx="0" ky="0" algn="bl" rotWithShape="0" blurRad="101600" dist="38100" dir="5400000">
              <a:srgbClr val="000000">
                <a:alpha val="35000"/>
              </a:srgbClr>
            </a:outerShdw>
          </a:effectLst>
        </p:spPr>
      </p:sp>
      <p:sp>
        <p:nvSpPr>
          <p:cNvPr id="8" name="Shape 5"/>
          <p:cNvSpPr/>
          <p:nvPr/>
        </p:nvSpPr>
        <p:spPr>
          <a:xfrm>
            <a:off x="5394960" y="2560320"/>
            <a:ext cx="457200" cy="457200"/>
          </a:xfrm>
          <a:prstGeom prst="ellipse">
            <a:avLst/>
          </a:prstGeom>
          <a:solidFill>
            <a:srgbClr val="FFB020"/>
          </a:solidFill>
          <a:ln/>
        </p:spPr>
      </p:sp>
      <p:sp>
        <p:nvSpPr>
          <p:cNvPr id="9" name="Text 6"/>
          <p:cNvSpPr/>
          <p:nvPr/>
        </p:nvSpPr>
        <p:spPr>
          <a:xfrm>
            <a:off x="5394960" y="2560320"/>
            <a:ext cx="457200" cy="457200"/>
          </a:xfrm>
          <a:prstGeom prst="rect">
            <a:avLst/>
          </a:prstGeom>
          <a:noFill/>
          <a:ln/>
        </p:spPr>
        <p:txBody>
          <a:bodyPr wrap="square" rtlCol="0" anchor="ctr"/>
          <a:lstStyle/>
          <a:p>
            <a:pPr algn="ctr" indent="0" marL="0">
              <a:buNone/>
            </a:pPr>
            <a:r>
              <a:rPr lang="en-US" sz="1500" b="1" dirty="0">
                <a:solidFill>
                  <a:srgbClr val="17110A"/>
                </a:solidFill>
                <a:latin typeface="Cambria" pitchFamily="34" charset="0"/>
                <a:ea typeface="Cambria" pitchFamily="34" charset="-122"/>
                <a:cs typeface="Cambria" pitchFamily="34" charset="-120"/>
              </a:rPr>
              <a:t>1</a:t>
            </a:r>
            <a:endParaRPr lang="en-US" sz="1500" dirty="0"/>
          </a:p>
        </p:txBody>
      </p:sp>
      <p:sp>
        <p:nvSpPr>
          <p:cNvPr id="10" name="Text 7"/>
          <p:cNvSpPr/>
          <p:nvPr/>
        </p:nvSpPr>
        <p:spPr>
          <a:xfrm>
            <a:off x="5989320" y="2450592"/>
            <a:ext cx="5394960" cy="457200"/>
          </a:xfrm>
          <a:prstGeom prst="rect">
            <a:avLst/>
          </a:prstGeom>
          <a:noFill/>
          <a:ln/>
        </p:spPr>
        <p:txBody>
          <a:bodyPr wrap="square"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Προεπιλογή</a:t>
            </a:r>
            <a:endParaRPr lang="en-US" sz="1450" dirty="0"/>
          </a:p>
        </p:txBody>
      </p:sp>
      <p:sp>
        <p:nvSpPr>
          <p:cNvPr id="11" name="Text 8"/>
          <p:cNvSpPr/>
          <p:nvPr/>
        </p:nvSpPr>
        <p:spPr>
          <a:xfrm>
            <a:off x="5989320" y="2907792"/>
            <a:ext cx="5394960" cy="914400"/>
          </a:xfrm>
          <a:prstGeom prst="rect">
            <a:avLst/>
          </a:prstGeom>
          <a:noFill/>
          <a:ln/>
        </p:spPr>
        <p:txBody>
          <a:bodyPr wrap="square" rtlCol="0" anchor="ctr"/>
          <a:lstStyle/>
          <a:p>
            <a:pPr indent="0" marL="0">
              <a:lnSpc>
                <a:spcPts val="1700"/>
              </a:lnSpc>
              <a:buNone/>
            </a:pPr>
            <a:r>
              <a:rPr lang="en-US" sz="1200" dirty="0">
                <a:solidFill>
                  <a:srgbClr val="B9CDE3"/>
                </a:solidFill>
                <a:latin typeface="Calibri" pitchFamily="34" charset="0"/>
                <a:ea typeface="Calibri" pitchFamily="34" charset="-122"/>
                <a:cs typeface="Calibri" pitchFamily="34" charset="-120"/>
              </a:rPr>
              <a:t>Το JP1 επιλέγει την πηγή ισχύος από τον φορτιστή USBPD_VBUS (default 5V) μέσω Type-C.</a:t>
            </a:r>
            <a:endParaRPr lang="en-US" sz="1200" dirty="0"/>
          </a:p>
        </p:txBody>
      </p:sp>
      <p:sp>
        <p:nvSpPr>
          <p:cNvPr id="12" name="Shape 9"/>
          <p:cNvSpPr/>
          <p:nvPr/>
        </p:nvSpPr>
        <p:spPr>
          <a:xfrm>
            <a:off x="5120640" y="4160520"/>
            <a:ext cx="6309360" cy="1645920"/>
          </a:xfrm>
          <a:prstGeom prst="roundRect">
            <a:avLst>
              <a:gd name="adj" fmla="val 6667"/>
            </a:avLst>
          </a:prstGeom>
          <a:solidFill>
            <a:srgbClr val="132B47"/>
          </a:solidFill>
          <a:ln/>
          <a:effectLst>
            <a:outerShdw sx="100000" sy="100000" kx="0" ky="0" algn="bl" rotWithShape="0" blurRad="101600" dist="38100" dir="5400000">
              <a:srgbClr val="000000">
                <a:alpha val="35000"/>
              </a:srgbClr>
            </a:outerShdw>
          </a:effectLst>
        </p:spPr>
      </p:sp>
      <p:sp>
        <p:nvSpPr>
          <p:cNvPr id="13" name="Shape 10"/>
          <p:cNvSpPr/>
          <p:nvPr/>
        </p:nvSpPr>
        <p:spPr>
          <a:xfrm>
            <a:off x="5394960" y="4434840"/>
            <a:ext cx="457200" cy="457200"/>
          </a:xfrm>
          <a:prstGeom prst="ellipse">
            <a:avLst/>
          </a:prstGeom>
          <a:solidFill>
            <a:srgbClr val="FFB020"/>
          </a:solidFill>
          <a:ln/>
        </p:spPr>
      </p:sp>
      <p:sp>
        <p:nvSpPr>
          <p:cNvPr id="14" name="Text 11"/>
          <p:cNvSpPr/>
          <p:nvPr/>
        </p:nvSpPr>
        <p:spPr>
          <a:xfrm>
            <a:off x="5394960" y="4434840"/>
            <a:ext cx="457200" cy="457200"/>
          </a:xfrm>
          <a:prstGeom prst="rect">
            <a:avLst/>
          </a:prstGeom>
          <a:noFill/>
          <a:ln/>
        </p:spPr>
        <p:txBody>
          <a:bodyPr wrap="square" rtlCol="0" anchor="ctr"/>
          <a:lstStyle/>
          <a:p>
            <a:pPr algn="ctr" indent="0" marL="0">
              <a:buNone/>
            </a:pPr>
            <a:r>
              <a:rPr lang="en-US" sz="1500" b="1" dirty="0">
                <a:solidFill>
                  <a:srgbClr val="17110A"/>
                </a:solidFill>
                <a:latin typeface="Cambria" pitchFamily="34" charset="0"/>
                <a:ea typeface="Cambria" pitchFamily="34" charset="-122"/>
                <a:cs typeface="Cambria" pitchFamily="34" charset="-120"/>
              </a:rPr>
              <a:t>2</a:t>
            </a:r>
            <a:endParaRPr lang="en-US" sz="1500" dirty="0"/>
          </a:p>
        </p:txBody>
      </p:sp>
      <p:sp>
        <p:nvSpPr>
          <p:cNvPr id="15" name="Text 12"/>
          <p:cNvSpPr/>
          <p:nvPr/>
        </p:nvSpPr>
        <p:spPr>
          <a:xfrm>
            <a:off x="5989320" y="4325112"/>
            <a:ext cx="5394960" cy="457200"/>
          </a:xfrm>
          <a:prstGeom prst="rect">
            <a:avLst/>
          </a:prstGeom>
          <a:noFill/>
          <a:ln/>
        </p:spPr>
        <p:txBody>
          <a:bodyPr wrap="square"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Εναλλακτική πηγή</a:t>
            </a:r>
            <a:endParaRPr lang="en-US" sz="1450" dirty="0"/>
          </a:p>
        </p:txBody>
      </p:sp>
      <p:sp>
        <p:nvSpPr>
          <p:cNvPr id="16" name="Text 13"/>
          <p:cNvSpPr/>
          <p:nvPr/>
        </p:nvSpPr>
        <p:spPr>
          <a:xfrm>
            <a:off x="5989320" y="4782312"/>
            <a:ext cx="5394960" cy="914400"/>
          </a:xfrm>
          <a:prstGeom prst="rect">
            <a:avLst/>
          </a:prstGeom>
          <a:noFill/>
          <a:ln/>
        </p:spPr>
        <p:txBody>
          <a:bodyPr wrap="square" rtlCol="0" anchor="ctr"/>
          <a:lstStyle/>
          <a:p>
            <a:pPr indent="0" marL="0">
              <a:lnSpc>
                <a:spcPts val="1700"/>
              </a:lnSpc>
              <a:buNone/>
            </a:pPr>
            <a:r>
              <a:rPr lang="en-US" sz="1200" dirty="0">
                <a:solidFill>
                  <a:srgbClr val="B9CDE3"/>
                </a:solidFill>
                <a:latin typeface="Calibri" pitchFamily="34" charset="0"/>
                <a:ea typeface="Calibri" pitchFamily="34" charset="-122"/>
                <a:cs typeface="Calibri" pitchFamily="34" charset="-120"/>
              </a:rPr>
              <a:t>Για εξωτερική τροφοδοσία, συνδέεται πηγή στα VIN/GND του JP1 και αφαιρείται το jumper.</a:t>
            </a:r>
            <a:endParaRPr lang="en-US" sz="1200" dirty="0"/>
          </a:p>
        </p:txBody>
      </p:sp>
      <p:sp>
        <p:nvSpPr>
          <p:cNvPr id="17" name="Text 14"/>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18" name="Shape 15"/>
          <p:cNvSpPr/>
          <p:nvPr/>
        </p:nvSpPr>
        <p:spPr>
          <a:xfrm>
            <a:off x="11475720" y="6419088"/>
            <a:ext cx="384048" cy="384048"/>
          </a:xfrm>
          <a:prstGeom prst="ellipse">
            <a:avLst/>
          </a:prstGeom>
          <a:solidFill>
            <a:srgbClr val="FFB020"/>
          </a:solidFill>
          <a:ln/>
        </p:spPr>
      </p:sp>
      <p:sp>
        <p:nvSpPr>
          <p:cNvPr id="19" name="Text 16"/>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ΥΛΙΚΌ</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Αρχιτεκτονική του Μικροελεγκτή STM32G474RE</a:t>
            </a:r>
            <a:endParaRPr lang="en-US" sz="2700" dirty="0"/>
          </a:p>
        </p:txBody>
      </p:sp>
      <p:sp>
        <p:nvSpPr>
          <p:cNvPr id="4" name="Text 2"/>
          <p:cNvSpPr/>
          <p:nvPr/>
        </p:nvSpPr>
        <p:spPr>
          <a:xfrm>
            <a:off x="640080" y="1572768"/>
            <a:ext cx="10881360" cy="457200"/>
          </a:xfrm>
          <a:prstGeom prst="rect">
            <a:avLst/>
          </a:prstGeom>
          <a:noFill/>
          <a:ln/>
        </p:spPr>
        <p:txBody>
          <a:bodyPr wrap="square" rtlCol="0" anchor="ctr"/>
          <a:lstStyle/>
          <a:p>
            <a:pPr indent="0" marL="0">
              <a:buNone/>
            </a:pPr>
            <a:r>
              <a:rPr lang="en-US" sz="1350" i="1" dirty="0">
                <a:solidFill>
                  <a:srgbClr val="B9CDE3"/>
                </a:solidFill>
                <a:latin typeface="Calibri" pitchFamily="34" charset="0"/>
                <a:ea typeface="Calibri" pitchFamily="34" charset="-122"/>
                <a:cs typeface="Calibri" pitchFamily="34" charset="-120"/>
              </a:rPr>
              <a:t>Τα βασικά στοιχεία αλληλεπίδρασης χρήστη πάνω στην πλακέτα B-G474E-DPOW1 Discovery kit.</a:t>
            </a:r>
            <a:endParaRPr lang="en-US" sz="1350" dirty="0"/>
          </a:p>
        </p:txBody>
      </p:sp>
      <p:sp>
        <p:nvSpPr>
          <p:cNvPr id="5" name="Shape 3"/>
          <p:cNvSpPr/>
          <p:nvPr/>
        </p:nvSpPr>
        <p:spPr>
          <a:xfrm>
            <a:off x="548640" y="2103120"/>
            <a:ext cx="7406640" cy="3337560"/>
          </a:xfrm>
          <a:prstGeom prst="roundRect">
            <a:avLst>
              <a:gd name="adj" fmla="val 3288"/>
            </a:avLst>
          </a:prstGeom>
          <a:solidFill>
            <a:srgbClr val="FFFFFF"/>
          </a:solidFill>
          <a:ln/>
          <a:effectLst>
            <a:outerShdw sx="100000" sy="100000" kx="0" ky="0" algn="bl" rotWithShape="0" blurRad="101600" dist="38100" dir="5400000">
              <a:srgbClr val="000000">
                <a:alpha val="35000"/>
              </a:srgbClr>
            </a:outerShdw>
          </a:effectLst>
        </p:spPr>
      </p:sp>
      <p:pic>
        <p:nvPicPr>
          <p:cNvPr id="6" name="Image 0" descr="/home/claude/build/img/image9.png">    </p:cNvPr>
          <p:cNvPicPr>
            <a:picLocks noChangeAspect="1"/>
          </p:cNvPicPr>
          <p:nvPr/>
        </p:nvPicPr>
        <p:blipFill>
          <a:blip r:embed="rId1"/>
          <a:srcRect l="0" r="0" t="0" b="0"/>
          <a:stretch/>
        </p:blipFill>
        <p:spPr>
          <a:xfrm>
            <a:off x="640080" y="2194560"/>
            <a:ext cx="7223760" cy="3154680"/>
          </a:xfrm>
          <a:prstGeom prst="rect">
            <a:avLst/>
          </a:prstGeom>
        </p:spPr>
      </p:pic>
      <p:sp>
        <p:nvSpPr>
          <p:cNvPr id="7" name="Shape 4"/>
          <p:cNvSpPr/>
          <p:nvPr/>
        </p:nvSpPr>
        <p:spPr>
          <a:xfrm>
            <a:off x="8183880" y="2194560"/>
            <a:ext cx="3337560" cy="1508760"/>
          </a:xfrm>
          <a:prstGeom prst="roundRect">
            <a:avLst>
              <a:gd name="adj" fmla="val 7273"/>
            </a:avLst>
          </a:prstGeom>
          <a:solidFill>
            <a:srgbClr val="132B47"/>
          </a:solidFill>
          <a:ln/>
          <a:effectLst>
            <a:outerShdw sx="100000" sy="100000" kx="0" ky="0" algn="bl" rotWithShape="0" blurRad="101600" dist="38100" dir="5400000">
              <a:srgbClr val="000000">
                <a:alpha val="35000"/>
              </a:srgbClr>
            </a:outerShdw>
          </a:effectLst>
        </p:spPr>
      </p:sp>
      <p:sp>
        <p:nvSpPr>
          <p:cNvPr id="8" name="Shape 5"/>
          <p:cNvSpPr/>
          <p:nvPr/>
        </p:nvSpPr>
        <p:spPr>
          <a:xfrm>
            <a:off x="8435340" y="2491740"/>
            <a:ext cx="594360" cy="594360"/>
          </a:xfrm>
          <a:prstGeom prst="ellipse">
            <a:avLst/>
          </a:prstGeom>
          <a:solidFill>
            <a:srgbClr val="FFB020">
              <a:alpha val="20000"/>
            </a:srgbClr>
          </a:solidFill>
          <a:ln w="15875">
            <a:solidFill>
              <a:srgbClr val="FFB020"/>
            </a:solidFill>
            <a:prstDash val="solid"/>
          </a:ln>
        </p:spPr>
      </p:sp>
      <p:sp>
        <p:nvSpPr>
          <p:cNvPr id="9" name="Shape 6"/>
          <p:cNvSpPr/>
          <p:nvPr/>
        </p:nvSpPr>
        <p:spPr>
          <a:xfrm>
            <a:off x="8583930" y="2640330"/>
            <a:ext cx="297180" cy="297180"/>
          </a:xfrm>
          <a:prstGeom prst="donut">
            <a:avLst/>
          </a:prstGeom>
          <a:solidFill>
            <a:srgbClr val="FFB020"/>
          </a:solidFill>
          <a:ln/>
        </p:spPr>
      </p:sp>
      <p:sp>
        <p:nvSpPr>
          <p:cNvPr id="10" name="Text 7"/>
          <p:cNvSpPr/>
          <p:nvPr/>
        </p:nvSpPr>
        <p:spPr>
          <a:xfrm>
            <a:off x="9189720" y="2331720"/>
            <a:ext cx="2148840" cy="41148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B2 Joystick</a:t>
            </a:r>
            <a:endParaRPr lang="en-US" sz="1400" dirty="0"/>
          </a:p>
        </p:txBody>
      </p:sp>
      <p:sp>
        <p:nvSpPr>
          <p:cNvPr id="11" name="Text 8"/>
          <p:cNvSpPr/>
          <p:nvPr/>
        </p:nvSpPr>
        <p:spPr>
          <a:xfrm>
            <a:off x="9189720" y="2724912"/>
            <a:ext cx="2148840" cy="868680"/>
          </a:xfrm>
          <a:prstGeom prst="rect">
            <a:avLst/>
          </a:prstGeom>
          <a:noFill/>
          <a:ln/>
        </p:spPr>
        <p:txBody>
          <a:bodyPr wrap="square" rtlCol="0" anchor="ctr"/>
          <a:lstStyle/>
          <a:p>
            <a:pPr indent="0" marL="0">
              <a:lnSpc>
                <a:spcPts val="1400"/>
              </a:lnSpc>
              <a:buNone/>
            </a:pPr>
            <a:r>
              <a:rPr lang="en-US" sz="1080" dirty="0">
                <a:solidFill>
                  <a:srgbClr val="B9CDE3"/>
                </a:solidFill>
                <a:latin typeface="Calibri" pitchFamily="34" charset="0"/>
                <a:ea typeface="Calibri" pitchFamily="34" charset="-122"/>
                <a:cs typeface="Calibri" pitchFamily="34" charset="-120"/>
              </a:rPr>
              <a:t>Τετραθέσιο joystick με πλήκτρο επιλογής, χρησιμοποιείται για την επιλογή τάσης.</a:t>
            </a:r>
            <a:endParaRPr lang="en-US" sz="1080" dirty="0"/>
          </a:p>
        </p:txBody>
      </p:sp>
      <p:sp>
        <p:nvSpPr>
          <p:cNvPr id="12" name="Shape 9"/>
          <p:cNvSpPr/>
          <p:nvPr/>
        </p:nvSpPr>
        <p:spPr>
          <a:xfrm>
            <a:off x="8183880" y="3840480"/>
            <a:ext cx="3337560" cy="1508760"/>
          </a:xfrm>
          <a:prstGeom prst="roundRect">
            <a:avLst>
              <a:gd name="adj" fmla="val 7273"/>
            </a:avLst>
          </a:prstGeom>
          <a:solidFill>
            <a:srgbClr val="132B47"/>
          </a:solidFill>
          <a:ln/>
          <a:effectLst>
            <a:outerShdw sx="100000" sy="100000" kx="0" ky="0" algn="bl" rotWithShape="0" blurRad="101600" dist="38100" dir="5400000">
              <a:srgbClr val="000000">
                <a:alpha val="35000"/>
              </a:srgbClr>
            </a:outerShdw>
          </a:effectLst>
        </p:spPr>
      </p:sp>
      <p:sp>
        <p:nvSpPr>
          <p:cNvPr id="13" name="Shape 10"/>
          <p:cNvSpPr/>
          <p:nvPr/>
        </p:nvSpPr>
        <p:spPr>
          <a:xfrm>
            <a:off x="8435340" y="4137660"/>
            <a:ext cx="594360" cy="594360"/>
          </a:xfrm>
          <a:prstGeom prst="ellipse">
            <a:avLst/>
          </a:prstGeom>
          <a:solidFill>
            <a:srgbClr val="39D2C0">
              <a:alpha val="20000"/>
            </a:srgbClr>
          </a:solidFill>
          <a:ln w="15875">
            <a:solidFill>
              <a:srgbClr val="39D2C0"/>
            </a:solidFill>
            <a:prstDash val="solid"/>
          </a:ln>
        </p:spPr>
      </p:sp>
      <p:sp>
        <p:nvSpPr>
          <p:cNvPr id="14" name="Shape 11"/>
          <p:cNvSpPr/>
          <p:nvPr/>
        </p:nvSpPr>
        <p:spPr>
          <a:xfrm>
            <a:off x="8583930" y="4286250"/>
            <a:ext cx="297180" cy="297180"/>
          </a:xfrm>
          <a:prstGeom prst="star5">
            <a:avLst/>
          </a:prstGeom>
          <a:solidFill>
            <a:srgbClr val="39D2C0"/>
          </a:solidFill>
          <a:ln/>
        </p:spPr>
      </p:sp>
      <p:sp>
        <p:nvSpPr>
          <p:cNvPr id="15" name="Text 12"/>
          <p:cNvSpPr/>
          <p:nvPr/>
        </p:nvSpPr>
        <p:spPr>
          <a:xfrm>
            <a:off x="9189720" y="3977640"/>
            <a:ext cx="2148840" cy="41148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4 User LEDs</a:t>
            </a:r>
            <a:endParaRPr lang="en-US" sz="1400" dirty="0"/>
          </a:p>
        </p:txBody>
      </p:sp>
      <p:sp>
        <p:nvSpPr>
          <p:cNvPr id="16" name="Text 13"/>
          <p:cNvSpPr/>
          <p:nvPr/>
        </p:nvSpPr>
        <p:spPr>
          <a:xfrm>
            <a:off x="9189720" y="4370832"/>
            <a:ext cx="2148840" cy="868680"/>
          </a:xfrm>
          <a:prstGeom prst="rect">
            <a:avLst/>
          </a:prstGeom>
          <a:noFill/>
          <a:ln/>
        </p:spPr>
        <p:txBody>
          <a:bodyPr wrap="square" rtlCol="0" anchor="ctr"/>
          <a:lstStyle/>
          <a:p>
            <a:pPr indent="0" marL="0">
              <a:lnSpc>
                <a:spcPts val="1400"/>
              </a:lnSpc>
              <a:buNone/>
            </a:pPr>
            <a:r>
              <a:rPr lang="en-US" sz="1080" dirty="0">
                <a:solidFill>
                  <a:srgbClr val="B9CDE3"/>
                </a:solidFill>
                <a:latin typeface="Calibri" pitchFamily="34" charset="0"/>
                <a:ea typeface="Calibri" pitchFamily="34" charset="-122"/>
                <a:cs typeface="Calibri" pitchFamily="34" charset="-120"/>
              </a:rPr>
              <a:t>Ενδεικτικές λυχνίες κατάστασης, προγραμματιζόμενες ανάλογα με τις ανάγκες της εφαρμογής.</a:t>
            </a:r>
            <a:endParaRPr lang="en-US" sz="1080" dirty="0"/>
          </a:p>
        </p:txBody>
      </p:sp>
      <p:sp>
        <p:nvSpPr>
          <p:cNvPr id="17" name="Text 14"/>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18" name="Shape 15"/>
          <p:cNvSpPr/>
          <p:nvPr/>
        </p:nvSpPr>
        <p:spPr>
          <a:xfrm>
            <a:off x="11475720" y="6419088"/>
            <a:ext cx="384048" cy="384048"/>
          </a:xfrm>
          <a:prstGeom prst="ellipse">
            <a:avLst/>
          </a:prstGeom>
          <a:solidFill>
            <a:srgbClr val="FFB020"/>
          </a:solidFill>
          <a:ln/>
        </p:spPr>
      </p:sp>
      <p:sp>
        <p:nvSpPr>
          <p:cNvPr id="19" name="Text 16"/>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ΕΡΓΑΛΕΊΑ</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Επεξήγηση του STM32CubeMonitor</a:t>
            </a:r>
            <a:endParaRPr lang="en-US" sz="2700" dirty="0"/>
          </a:p>
        </p:txBody>
      </p:sp>
      <p:sp>
        <p:nvSpPr>
          <p:cNvPr id="4" name="Text 2"/>
          <p:cNvSpPr/>
          <p:nvPr/>
        </p:nvSpPr>
        <p:spPr>
          <a:xfrm>
            <a:off x="640080" y="1572768"/>
            <a:ext cx="10881360" cy="502920"/>
          </a:xfrm>
          <a:prstGeom prst="rect">
            <a:avLst/>
          </a:prstGeom>
          <a:noFill/>
          <a:ln/>
        </p:spPr>
        <p:txBody>
          <a:bodyPr wrap="square" rtlCol="0" anchor="ctr"/>
          <a:lstStyle/>
          <a:p>
            <a:pPr indent="0" marL="0">
              <a:buNone/>
            </a:pPr>
            <a:r>
              <a:rPr lang="en-US" sz="1350" i="1" dirty="0">
                <a:solidFill>
                  <a:srgbClr val="B9CDE3"/>
                </a:solidFill>
                <a:latin typeface="Calibri" pitchFamily="34" charset="0"/>
                <a:ea typeface="Calibri" pitchFamily="34" charset="-122"/>
                <a:cs typeface="Calibri" pitchFamily="34" charset="-120"/>
              </a:rPr>
              <a:t>Στους μικροελεγκτές, τα traces αναφέρονται στις καταγραφές σημάτων ή γεγονότων που παρακολουθούνται κατά τη λειτουργία του συστήματος.</a:t>
            </a:r>
            <a:endParaRPr lang="en-US" sz="1350" dirty="0"/>
          </a:p>
        </p:txBody>
      </p:sp>
      <p:sp>
        <p:nvSpPr>
          <p:cNvPr id="5" name="Shape 3"/>
          <p:cNvSpPr/>
          <p:nvPr/>
        </p:nvSpPr>
        <p:spPr>
          <a:xfrm>
            <a:off x="548640" y="2194560"/>
            <a:ext cx="7498080" cy="4343400"/>
          </a:xfrm>
          <a:prstGeom prst="roundRect">
            <a:avLst>
              <a:gd name="adj" fmla="val 2526"/>
            </a:avLst>
          </a:prstGeom>
          <a:solidFill>
            <a:srgbClr val="FFFFFF"/>
          </a:solidFill>
          <a:ln/>
          <a:effectLst>
            <a:outerShdw sx="100000" sy="100000" kx="0" ky="0" algn="bl" rotWithShape="0" blurRad="101600" dist="38100" dir="5400000">
              <a:srgbClr val="000000">
                <a:alpha val="35000"/>
              </a:srgbClr>
            </a:outerShdw>
          </a:effectLst>
        </p:spPr>
      </p:sp>
      <p:pic>
        <p:nvPicPr>
          <p:cNvPr id="6" name="Image 0" descr="/home/claude/build/img/image11.png">    </p:cNvPr>
          <p:cNvPicPr>
            <a:picLocks noChangeAspect="1"/>
          </p:cNvPicPr>
          <p:nvPr/>
        </p:nvPicPr>
        <p:blipFill>
          <a:blip r:embed="rId1"/>
          <a:srcRect l="0" r="0" t="0" b="0"/>
          <a:stretch/>
        </p:blipFill>
        <p:spPr>
          <a:xfrm>
            <a:off x="640080" y="2286000"/>
            <a:ext cx="7315200" cy="4160520"/>
          </a:xfrm>
          <a:prstGeom prst="rect">
            <a:avLst/>
          </a:prstGeom>
        </p:spPr>
      </p:pic>
      <p:sp>
        <p:nvSpPr>
          <p:cNvPr id="7" name="Shape 4"/>
          <p:cNvSpPr/>
          <p:nvPr/>
        </p:nvSpPr>
        <p:spPr>
          <a:xfrm>
            <a:off x="8183880" y="2286000"/>
            <a:ext cx="3337560" cy="1234440"/>
          </a:xfrm>
          <a:prstGeom prst="roundRect">
            <a:avLst>
              <a:gd name="adj" fmla="val 8889"/>
            </a:avLst>
          </a:prstGeom>
          <a:solidFill>
            <a:srgbClr val="132B47"/>
          </a:solidFill>
          <a:ln/>
          <a:effectLst>
            <a:outerShdw sx="100000" sy="100000" kx="0" ky="0" algn="bl" rotWithShape="0" blurRad="101600" dist="38100" dir="5400000">
              <a:srgbClr val="000000">
                <a:alpha val="35000"/>
              </a:srgbClr>
            </a:outerShdw>
          </a:effectLst>
        </p:spPr>
      </p:sp>
      <p:sp>
        <p:nvSpPr>
          <p:cNvPr id="8" name="Shape 5"/>
          <p:cNvSpPr/>
          <p:nvPr/>
        </p:nvSpPr>
        <p:spPr>
          <a:xfrm>
            <a:off x="8412480" y="2743200"/>
            <a:ext cx="128016" cy="128016"/>
          </a:xfrm>
          <a:prstGeom prst="ellipse">
            <a:avLst/>
          </a:prstGeom>
          <a:solidFill>
            <a:srgbClr val="FFB020"/>
          </a:solidFill>
          <a:ln/>
        </p:spPr>
      </p:sp>
      <p:sp>
        <p:nvSpPr>
          <p:cNvPr id="9" name="Text 6"/>
          <p:cNvSpPr/>
          <p:nvPr/>
        </p:nvSpPr>
        <p:spPr>
          <a:xfrm>
            <a:off x="8686800" y="2423160"/>
            <a:ext cx="2606040" cy="960120"/>
          </a:xfrm>
          <a:prstGeom prst="rect">
            <a:avLst/>
          </a:prstGeom>
          <a:noFill/>
          <a:ln/>
        </p:spPr>
        <p:txBody>
          <a:bodyPr wrap="square" rtlCol="0" anchor="ctr"/>
          <a:lstStyle/>
          <a:p>
            <a:pPr indent="0" marL="0">
              <a:lnSpc>
                <a:spcPts val="1450"/>
              </a:lnSpc>
              <a:buNone/>
            </a:pPr>
            <a:r>
              <a:rPr lang="en-US" sz="1130" dirty="0">
                <a:solidFill>
                  <a:srgbClr val="B9CDE3"/>
                </a:solidFill>
                <a:latin typeface="Calibri" pitchFamily="34" charset="0"/>
                <a:ea typeface="Calibri" pitchFamily="34" charset="-122"/>
                <a:cs typeface="Calibri" pitchFamily="34" charset="-120"/>
              </a:rPr>
              <a:t>Βοηθούν στην ανάλυση και τον εντοπισμό σφαλμάτων.</a:t>
            </a:r>
            <a:endParaRPr lang="en-US" sz="1130" dirty="0"/>
          </a:p>
        </p:txBody>
      </p:sp>
      <p:sp>
        <p:nvSpPr>
          <p:cNvPr id="10" name="Shape 7"/>
          <p:cNvSpPr/>
          <p:nvPr/>
        </p:nvSpPr>
        <p:spPr>
          <a:xfrm>
            <a:off x="8183880" y="3703320"/>
            <a:ext cx="3337560" cy="1234440"/>
          </a:xfrm>
          <a:prstGeom prst="roundRect">
            <a:avLst>
              <a:gd name="adj" fmla="val 8889"/>
            </a:avLst>
          </a:prstGeom>
          <a:solidFill>
            <a:srgbClr val="132B47"/>
          </a:solidFill>
          <a:ln/>
          <a:effectLst>
            <a:outerShdw sx="100000" sy="100000" kx="0" ky="0" algn="bl" rotWithShape="0" blurRad="101600" dist="38100" dir="5400000">
              <a:srgbClr val="000000">
                <a:alpha val="35000"/>
              </a:srgbClr>
            </a:outerShdw>
          </a:effectLst>
        </p:spPr>
      </p:sp>
      <p:sp>
        <p:nvSpPr>
          <p:cNvPr id="11" name="Shape 8"/>
          <p:cNvSpPr/>
          <p:nvPr/>
        </p:nvSpPr>
        <p:spPr>
          <a:xfrm>
            <a:off x="8412480" y="4160520"/>
            <a:ext cx="128016" cy="128016"/>
          </a:xfrm>
          <a:prstGeom prst="ellipse">
            <a:avLst/>
          </a:prstGeom>
          <a:solidFill>
            <a:srgbClr val="39D2C0"/>
          </a:solidFill>
          <a:ln/>
        </p:spPr>
      </p:sp>
      <p:sp>
        <p:nvSpPr>
          <p:cNvPr id="12" name="Text 9"/>
          <p:cNvSpPr/>
          <p:nvPr/>
        </p:nvSpPr>
        <p:spPr>
          <a:xfrm>
            <a:off x="8686800" y="3840480"/>
            <a:ext cx="2606040" cy="960120"/>
          </a:xfrm>
          <a:prstGeom prst="rect">
            <a:avLst/>
          </a:prstGeom>
          <a:noFill/>
          <a:ln/>
        </p:spPr>
        <p:txBody>
          <a:bodyPr wrap="square" rtlCol="0" anchor="ctr"/>
          <a:lstStyle/>
          <a:p>
            <a:pPr indent="0" marL="0">
              <a:lnSpc>
                <a:spcPts val="1450"/>
              </a:lnSpc>
              <a:buNone/>
            </a:pPr>
            <a:r>
              <a:rPr lang="en-US" sz="1130" dirty="0">
                <a:solidFill>
                  <a:srgbClr val="B9CDE3"/>
                </a:solidFill>
                <a:latin typeface="Calibri" pitchFamily="34" charset="0"/>
                <a:ea typeface="Calibri" pitchFamily="34" charset="-122"/>
                <a:cs typeface="Calibri" pitchFamily="34" charset="-120"/>
              </a:rPr>
              <a:t>Παρέχουν πληροφορίες για την αλληλουχία εντολών και την επικοινωνία μεταξύ περιφερειακών.</a:t>
            </a:r>
            <a:endParaRPr lang="en-US" sz="1130" dirty="0"/>
          </a:p>
        </p:txBody>
      </p:sp>
      <p:sp>
        <p:nvSpPr>
          <p:cNvPr id="13" name="Shape 10"/>
          <p:cNvSpPr/>
          <p:nvPr/>
        </p:nvSpPr>
        <p:spPr>
          <a:xfrm>
            <a:off x="8183880" y="5120640"/>
            <a:ext cx="3337560" cy="1234440"/>
          </a:xfrm>
          <a:prstGeom prst="roundRect">
            <a:avLst>
              <a:gd name="adj" fmla="val 8889"/>
            </a:avLst>
          </a:prstGeom>
          <a:solidFill>
            <a:srgbClr val="132B47"/>
          </a:solidFill>
          <a:ln/>
          <a:effectLst>
            <a:outerShdw sx="100000" sy="100000" kx="0" ky="0" algn="bl" rotWithShape="0" blurRad="101600" dist="38100" dir="5400000">
              <a:srgbClr val="000000">
                <a:alpha val="35000"/>
              </a:srgbClr>
            </a:outerShdw>
          </a:effectLst>
        </p:spPr>
      </p:sp>
      <p:sp>
        <p:nvSpPr>
          <p:cNvPr id="14" name="Shape 11"/>
          <p:cNvSpPr/>
          <p:nvPr/>
        </p:nvSpPr>
        <p:spPr>
          <a:xfrm>
            <a:off x="8412480" y="5577840"/>
            <a:ext cx="128016" cy="128016"/>
          </a:xfrm>
          <a:prstGeom prst="ellipse">
            <a:avLst/>
          </a:prstGeom>
          <a:solidFill>
            <a:srgbClr val="FFB020"/>
          </a:solidFill>
          <a:ln/>
        </p:spPr>
      </p:sp>
      <p:sp>
        <p:nvSpPr>
          <p:cNvPr id="15" name="Text 12"/>
          <p:cNvSpPr/>
          <p:nvPr/>
        </p:nvSpPr>
        <p:spPr>
          <a:xfrm>
            <a:off x="8686800" y="5257800"/>
            <a:ext cx="2606040" cy="960120"/>
          </a:xfrm>
          <a:prstGeom prst="rect">
            <a:avLst/>
          </a:prstGeom>
          <a:noFill/>
          <a:ln/>
        </p:spPr>
        <p:txBody>
          <a:bodyPr wrap="square" rtlCol="0" anchor="ctr"/>
          <a:lstStyle/>
          <a:p>
            <a:pPr indent="0" marL="0">
              <a:lnSpc>
                <a:spcPts val="1450"/>
              </a:lnSpc>
              <a:buNone/>
            </a:pPr>
            <a:r>
              <a:rPr lang="en-US" sz="1130" dirty="0">
                <a:solidFill>
                  <a:srgbClr val="B9CDE3"/>
                </a:solidFill>
                <a:latin typeface="Calibri" pitchFamily="34" charset="0"/>
                <a:ea typeface="Calibri" pitchFamily="34" charset="-122"/>
                <a:cs typeface="Calibri" pitchFamily="34" charset="-120"/>
              </a:rPr>
              <a:t>Στην εικόνα φαίνεται μια σειρά traces με μηνύματα ενός συστήματος USB Power Delivery.</a:t>
            </a:r>
            <a:endParaRPr lang="en-US" sz="1130" dirty="0"/>
          </a:p>
        </p:txBody>
      </p:sp>
      <p:sp>
        <p:nvSpPr>
          <p:cNvPr id="16" name="Text 13"/>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17" name="Shape 14"/>
          <p:cNvSpPr/>
          <p:nvPr/>
        </p:nvSpPr>
        <p:spPr>
          <a:xfrm>
            <a:off x="11475720" y="6419088"/>
            <a:ext cx="384048" cy="384048"/>
          </a:xfrm>
          <a:prstGeom prst="ellipse">
            <a:avLst/>
          </a:prstGeom>
          <a:solidFill>
            <a:srgbClr val="FFB020"/>
          </a:solidFill>
          <a:ln/>
        </p:spPr>
      </p:sp>
      <p:sp>
        <p:nvSpPr>
          <p:cNvPr id="18" name="Text 15"/>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ΛΟΓΙΣΜΙΚΌ</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Διάγραμμα Ροής της Κύριας Λειτουργίας</a:t>
            </a:r>
            <a:endParaRPr lang="en-US" sz="2700" dirty="0"/>
          </a:p>
        </p:txBody>
      </p:sp>
      <p:sp>
        <p:nvSpPr>
          <p:cNvPr id="4" name="Text 2"/>
          <p:cNvSpPr/>
          <p:nvPr/>
        </p:nvSpPr>
        <p:spPr>
          <a:xfrm>
            <a:off x="640080" y="1572768"/>
            <a:ext cx="10881360" cy="640080"/>
          </a:xfrm>
          <a:prstGeom prst="rect">
            <a:avLst/>
          </a:prstGeom>
          <a:noFill/>
          <a:ln/>
        </p:spPr>
        <p:txBody>
          <a:bodyPr wrap="square" rtlCol="0" anchor="ctr"/>
          <a:lstStyle/>
          <a:p>
            <a:pPr indent="0" marL="0">
              <a:buNone/>
            </a:pPr>
            <a:r>
              <a:rPr lang="en-US" sz="1350" i="1" dirty="0">
                <a:solidFill>
                  <a:srgbClr val="B9CDE3"/>
                </a:solidFill>
                <a:latin typeface="Calibri" pitchFamily="34" charset="0"/>
                <a:ea typeface="Calibri" pitchFamily="34" charset="-122"/>
                <a:cs typeface="Calibri" pitchFamily="34" charset="-120"/>
              </a:rPr>
              <a:t>Η main() του αρχείου main.c περιλαμβάνει τις κλήσεις αρχικοποίησης για όλα τα περιφερειακά του μικροελεγκτή, πριν εισέλθει σε έναν ατέρμονα βρόχο ελέγχου.</a:t>
            </a:r>
            <a:endParaRPr lang="en-US" sz="1350" dirty="0"/>
          </a:p>
        </p:txBody>
      </p:sp>
      <p:sp>
        <p:nvSpPr>
          <p:cNvPr id="5" name="Shape 3"/>
          <p:cNvSpPr/>
          <p:nvPr/>
        </p:nvSpPr>
        <p:spPr>
          <a:xfrm>
            <a:off x="640080" y="2743200"/>
            <a:ext cx="2331720" cy="1417320"/>
          </a:xfrm>
          <a:prstGeom prst="roundRect">
            <a:avLst>
              <a:gd name="adj" fmla="val 6452"/>
            </a:avLst>
          </a:prstGeom>
          <a:solidFill>
            <a:srgbClr val="1B3A5C"/>
          </a:solidFill>
          <a:ln w="19050">
            <a:solidFill>
              <a:srgbClr val="FFB020"/>
            </a:solidFill>
            <a:prstDash val="solid"/>
          </a:ln>
        </p:spPr>
      </p:sp>
      <p:sp>
        <p:nvSpPr>
          <p:cNvPr id="6" name="Shape 4"/>
          <p:cNvSpPr/>
          <p:nvPr/>
        </p:nvSpPr>
        <p:spPr>
          <a:xfrm>
            <a:off x="777240" y="2468880"/>
            <a:ext cx="457200" cy="457200"/>
          </a:xfrm>
          <a:prstGeom prst="ellipse">
            <a:avLst/>
          </a:prstGeom>
          <a:solidFill>
            <a:srgbClr val="FFB020"/>
          </a:solidFill>
          <a:ln/>
        </p:spPr>
      </p:sp>
      <p:sp>
        <p:nvSpPr>
          <p:cNvPr id="7" name="Text 5"/>
          <p:cNvSpPr/>
          <p:nvPr/>
        </p:nvSpPr>
        <p:spPr>
          <a:xfrm>
            <a:off x="777240" y="2468880"/>
            <a:ext cx="457200" cy="457200"/>
          </a:xfrm>
          <a:prstGeom prst="rect">
            <a:avLst/>
          </a:prstGeom>
          <a:noFill/>
          <a:ln/>
        </p:spPr>
        <p:txBody>
          <a:bodyPr wrap="square" rtlCol="0" anchor="ctr"/>
          <a:lstStyle/>
          <a:p>
            <a:pPr algn="ctr" indent="0" marL="0">
              <a:buNone/>
            </a:pPr>
            <a:r>
              <a:rPr lang="en-US" sz="1500" b="1" dirty="0">
                <a:solidFill>
                  <a:srgbClr val="17110A"/>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777240" y="2999232"/>
            <a:ext cx="2057400" cy="41148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Αρχικοποίηση</a:t>
            </a:r>
            <a:endParaRPr lang="en-US" sz="1250" dirty="0"/>
          </a:p>
        </p:txBody>
      </p:sp>
      <p:sp>
        <p:nvSpPr>
          <p:cNvPr id="9" name="Text 7"/>
          <p:cNvSpPr/>
          <p:nvPr/>
        </p:nvSpPr>
        <p:spPr>
          <a:xfrm>
            <a:off x="822960" y="3401568"/>
            <a:ext cx="1965960" cy="685800"/>
          </a:xfrm>
          <a:prstGeom prst="rect">
            <a:avLst/>
          </a:prstGeom>
          <a:noFill/>
          <a:ln/>
        </p:spPr>
        <p:txBody>
          <a:bodyPr wrap="square" rtlCol="0" anchor="ctr"/>
          <a:lstStyle/>
          <a:p>
            <a:pPr algn="ctr" indent="0" marL="0">
              <a:lnSpc>
                <a:spcPts val="1150"/>
              </a:lnSpc>
              <a:buNone/>
            </a:pPr>
            <a:r>
              <a:rPr lang="en-US" sz="930" dirty="0">
                <a:solidFill>
                  <a:srgbClr val="B9CDE3"/>
                </a:solidFill>
                <a:latin typeface="Calibri" pitchFamily="34" charset="0"/>
                <a:ea typeface="Calibri" pitchFamily="34" charset="-122"/>
                <a:cs typeface="Calibri" pitchFamily="34" charset="-120"/>
              </a:rPr>
              <a:t>HAL, περιφερειακών και ρολογιού συστήματος.</a:t>
            </a:r>
            <a:endParaRPr lang="en-US" sz="930" dirty="0"/>
          </a:p>
        </p:txBody>
      </p:sp>
      <p:sp>
        <p:nvSpPr>
          <p:cNvPr id="10" name="Shape 8"/>
          <p:cNvSpPr/>
          <p:nvPr/>
        </p:nvSpPr>
        <p:spPr>
          <a:xfrm>
            <a:off x="2971800" y="3342132"/>
            <a:ext cx="365760" cy="219456"/>
          </a:xfrm>
          <a:prstGeom prst="rightArrow">
            <a:avLst/>
          </a:prstGeom>
          <a:solidFill>
            <a:srgbClr val="FFB020"/>
          </a:solidFill>
          <a:ln/>
        </p:spPr>
      </p:sp>
      <p:sp>
        <p:nvSpPr>
          <p:cNvPr id="11" name="Shape 9"/>
          <p:cNvSpPr/>
          <p:nvPr/>
        </p:nvSpPr>
        <p:spPr>
          <a:xfrm>
            <a:off x="3337560" y="2743200"/>
            <a:ext cx="2331720" cy="1417320"/>
          </a:xfrm>
          <a:prstGeom prst="diamond">
            <a:avLst/>
          </a:prstGeom>
          <a:solidFill>
            <a:srgbClr val="0E2238"/>
          </a:solidFill>
          <a:ln w="19050">
            <a:solidFill>
              <a:srgbClr val="FFB020"/>
            </a:solidFill>
            <a:prstDash val="solid"/>
          </a:ln>
        </p:spPr>
      </p:sp>
      <p:sp>
        <p:nvSpPr>
          <p:cNvPr id="12" name="Shape 10"/>
          <p:cNvSpPr/>
          <p:nvPr/>
        </p:nvSpPr>
        <p:spPr>
          <a:xfrm>
            <a:off x="3474720" y="2468880"/>
            <a:ext cx="457200" cy="457200"/>
          </a:xfrm>
          <a:prstGeom prst="ellipse">
            <a:avLst/>
          </a:prstGeom>
          <a:solidFill>
            <a:srgbClr val="FFB020"/>
          </a:solidFill>
          <a:ln/>
        </p:spPr>
      </p:sp>
      <p:sp>
        <p:nvSpPr>
          <p:cNvPr id="13" name="Text 11"/>
          <p:cNvSpPr/>
          <p:nvPr/>
        </p:nvSpPr>
        <p:spPr>
          <a:xfrm>
            <a:off x="3474720" y="2468880"/>
            <a:ext cx="457200" cy="457200"/>
          </a:xfrm>
          <a:prstGeom prst="rect">
            <a:avLst/>
          </a:prstGeom>
          <a:noFill/>
          <a:ln/>
        </p:spPr>
        <p:txBody>
          <a:bodyPr wrap="square" rtlCol="0" anchor="ctr"/>
          <a:lstStyle/>
          <a:p>
            <a:pPr algn="ctr" indent="0" marL="0">
              <a:buNone/>
            </a:pPr>
            <a:r>
              <a:rPr lang="en-US" sz="1500" b="1" dirty="0">
                <a:solidFill>
                  <a:srgbClr val="17110A"/>
                </a:solidFill>
                <a:latin typeface="Cambria" pitchFamily="34" charset="0"/>
                <a:ea typeface="Cambria" pitchFamily="34" charset="-122"/>
                <a:cs typeface="Cambria" pitchFamily="34" charset="-120"/>
              </a:rPr>
              <a:t>2</a:t>
            </a:r>
            <a:endParaRPr lang="en-US" sz="1500" dirty="0"/>
          </a:p>
        </p:txBody>
      </p:sp>
      <p:sp>
        <p:nvSpPr>
          <p:cNvPr id="14" name="Text 12"/>
          <p:cNvSpPr/>
          <p:nvPr/>
        </p:nvSpPr>
        <p:spPr>
          <a:xfrm>
            <a:off x="3474720" y="2999232"/>
            <a:ext cx="2057400" cy="41148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Βρόχος for()</a:t>
            </a:r>
            <a:endParaRPr lang="en-US" sz="1250" dirty="0"/>
          </a:p>
        </p:txBody>
      </p:sp>
      <p:sp>
        <p:nvSpPr>
          <p:cNvPr id="15" name="Text 13"/>
          <p:cNvSpPr/>
          <p:nvPr/>
        </p:nvSpPr>
        <p:spPr>
          <a:xfrm>
            <a:off x="3520440" y="3401568"/>
            <a:ext cx="1965960" cy="685800"/>
          </a:xfrm>
          <a:prstGeom prst="rect">
            <a:avLst/>
          </a:prstGeom>
          <a:noFill/>
          <a:ln/>
        </p:spPr>
        <p:txBody>
          <a:bodyPr wrap="square" rtlCol="0" anchor="ctr"/>
          <a:lstStyle/>
          <a:p>
            <a:pPr algn="ctr" indent="0" marL="0">
              <a:lnSpc>
                <a:spcPts val="1150"/>
              </a:lnSpc>
              <a:buNone/>
            </a:pPr>
            <a:r>
              <a:rPr lang="en-US" sz="930" dirty="0">
                <a:solidFill>
                  <a:srgbClr val="B9CDE3"/>
                </a:solidFill>
                <a:latin typeface="Calibri" pitchFamily="34" charset="0"/>
                <a:ea typeface="Calibri" pitchFamily="34" charset="-122"/>
                <a:cs typeface="Calibri" pitchFamily="34" charset="-120"/>
              </a:rPr>
              <a:t>Είσοδος σε ατέρμονα βρόχο όπου εκτελούνται οι βασικές λειτουργίες.</a:t>
            </a:r>
            <a:endParaRPr lang="en-US" sz="930" dirty="0"/>
          </a:p>
        </p:txBody>
      </p:sp>
      <p:sp>
        <p:nvSpPr>
          <p:cNvPr id="16" name="Shape 14"/>
          <p:cNvSpPr/>
          <p:nvPr/>
        </p:nvSpPr>
        <p:spPr>
          <a:xfrm>
            <a:off x="5669280" y="3342132"/>
            <a:ext cx="365760" cy="219456"/>
          </a:xfrm>
          <a:prstGeom prst="rightArrow">
            <a:avLst/>
          </a:prstGeom>
          <a:solidFill>
            <a:srgbClr val="FFB020"/>
          </a:solidFill>
          <a:ln/>
        </p:spPr>
      </p:sp>
      <p:sp>
        <p:nvSpPr>
          <p:cNvPr id="17" name="Shape 15"/>
          <p:cNvSpPr/>
          <p:nvPr/>
        </p:nvSpPr>
        <p:spPr>
          <a:xfrm>
            <a:off x="6035040" y="2743200"/>
            <a:ext cx="2331720" cy="1417320"/>
          </a:xfrm>
          <a:prstGeom prst="roundRect">
            <a:avLst>
              <a:gd name="adj" fmla="val 6452"/>
            </a:avLst>
          </a:prstGeom>
          <a:solidFill>
            <a:srgbClr val="1B3A5C"/>
          </a:solidFill>
          <a:ln w="19050">
            <a:solidFill>
              <a:srgbClr val="FFB020"/>
            </a:solidFill>
            <a:prstDash val="solid"/>
          </a:ln>
        </p:spPr>
      </p:sp>
      <p:sp>
        <p:nvSpPr>
          <p:cNvPr id="18" name="Shape 16"/>
          <p:cNvSpPr/>
          <p:nvPr/>
        </p:nvSpPr>
        <p:spPr>
          <a:xfrm>
            <a:off x="6172200" y="2468880"/>
            <a:ext cx="457200" cy="457200"/>
          </a:xfrm>
          <a:prstGeom prst="ellipse">
            <a:avLst/>
          </a:prstGeom>
          <a:solidFill>
            <a:srgbClr val="FFB020"/>
          </a:solidFill>
          <a:ln/>
        </p:spPr>
      </p:sp>
      <p:sp>
        <p:nvSpPr>
          <p:cNvPr id="19" name="Text 17"/>
          <p:cNvSpPr/>
          <p:nvPr/>
        </p:nvSpPr>
        <p:spPr>
          <a:xfrm>
            <a:off x="6172200" y="2468880"/>
            <a:ext cx="457200" cy="457200"/>
          </a:xfrm>
          <a:prstGeom prst="rect">
            <a:avLst/>
          </a:prstGeom>
          <a:noFill/>
          <a:ln/>
        </p:spPr>
        <p:txBody>
          <a:bodyPr wrap="square" rtlCol="0" anchor="ctr"/>
          <a:lstStyle/>
          <a:p>
            <a:pPr algn="ctr" indent="0" marL="0">
              <a:buNone/>
            </a:pPr>
            <a:r>
              <a:rPr lang="en-US" sz="1500" b="1" dirty="0">
                <a:solidFill>
                  <a:srgbClr val="17110A"/>
                </a:solidFill>
                <a:latin typeface="Cambria" pitchFamily="34" charset="0"/>
                <a:ea typeface="Cambria" pitchFamily="34" charset="-122"/>
                <a:cs typeface="Cambria" pitchFamily="34" charset="-120"/>
              </a:rPr>
              <a:t>3</a:t>
            </a:r>
            <a:endParaRPr lang="en-US" sz="1500" dirty="0"/>
          </a:p>
        </p:txBody>
      </p:sp>
      <p:sp>
        <p:nvSpPr>
          <p:cNvPr id="20" name="Text 18"/>
          <p:cNvSpPr/>
          <p:nvPr/>
        </p:nvSpPr>
        <p:spPr>
          <a:xfrm>
            <a:off x="6172200" y="2999232"/>
            <a:ext cx="2057400" cy="41148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Check Buttons()</a:t>
            </a:r>
            <a:endParaRPr lang="en-US" sz="1250" dirty="0"/>
          </a:p>
        </p:txBody>
      </p:sp>
      <p:sp>
        <p:nvSpPr>
          <p:cNvPr id="21" name="Text 19"/>
          <p:cNvSpPr/>
          <p:nvPr/>
        </p:nvSpPr>
        <p:spPr>
          <a:xfrm>
            <a:off x="6217920" y="3401568"/>
            <a:ext cx="1965960" cy="685800"/>
          </a:xfrm>
          <a:prstGeom prst="rect">
            <a:avLst/>
          </a:prstGeom>
          <a:noFill/>
          <a:ln/>
        </p:spPr>
        <p:txBody>
          <a:bodyPr wrap="square" rtlCol="0" anchor="ctr"/>
          <a:lstStyle/>
          <a:p>
            <a:pPr algn="ctr" indent="0" marL="0">
              <a:lnSpc>
                <a:spcPts val="1150"/>
              </a:lnSpc>
              <a:buNone/>
            </a:pPr>
            <a:r>
              <a:rPr lang="en-US" sz="930" dirty="0">
                <a:solidFill>
                  <a:srgbClr val="B9CDE3"/>
                </a:solidFill>
                <a:latin typeface="Calibri" pitchFamily="34" charset="0"/>
                <a:ea typeface="Calibri" pitchFamily="34" charset="-122"/>
                <a:cs typeface="Calibri" pitchFamily="34" charset="-120"/>
              </a:rPr>
              <a:t>Έλεγχος ποιο κουμπί πατήθηκε· κλήση αντίστοιχης συνάρτησης αλλαγής τάσης / LED.</a:t>
            </a:r>
            <a:endParaRPr lang="en-US" sz="930" dirty="0"/>
          </a:p>
        </p:txBody>
      </p:sp>
      <p:sp>
        <p:nvSpPr>
          <p:cNvPr id="22" name="Shape 20"/>
          <p:cNvSpPr/>
          <p:nvPr/>
        </p:nvSpPr>
        <p:spPr>
          <a:xfrm>
            <a:off x="8366760" y="3342132"/>
            <a:ext cx="365760" cy="219456"/>
          </a:xfrm>
          <a:prstGeom prst="rightArrow">
            <a:avLst/>
          </a:prstGeom>
          <a:solidFill>
            <a:srgbClr val="FFB020"/>
          </a:solidFill>
          <a:ln/>
        </p:spPr>
      </p:sp>
      <p:sp>
        <p:nvSpPr>
          <p:cNvPr id="23" name="Shape 21"/>
          <p:cNvSpPr/>
          <p:nvPr/>
        </p:nvSpPr>
        <p:spPr>
          <a:xfrm>
            <a:off x="8732520" y="2743200"/>
            <a:ext cx="2331720" cy="1417320"/>
          </a:xfrm>
          <a:prstGeom prst="roundRect">
            <a:avLst>
              <a:gd name="adj" fmla="val 6452"/>
            </a:avLst>
          </a:prstGeom>
          <a:solidFill>
            <a:srgbClr val="0E2238"/>
          </a:solidFill>
          <a:ln w="19050">
            <a:solidFill>
              <a:srgbClr val="FFB020"/>
            </a:solidFill>
            <a:prstDash val="solid"/>
          </a:ln>
        </p:spPr>
      </p:sp>
      <p:sp>
        <p:nvSpPr>
          <p:cNvPr id="24" name="Shape 22"/>
          <p:cNvSpPr/>
          <p:nvPr/>
        </p:nvSpPr>
        <p:spPr>
          <a:xfrm>
            <a:off x="8869680" y="2468880"/>
            <a:ext cx="457200" cy="457200"/>
          </a:xfrm>
          <a:prstGeom prst="ellipse">
            <a:avLst/>
          </a:prstGeom>
          <a:solidFill>
            <a:srgbClr val="FFB020"/>
          </a:solidFill>
          <a:ln/>
        </p:spPr>
      </p:sp>
      <p:sp>
        <p:nvSpPr>
          <p:cNvPr id="25" name="Text 23"/>
          <p:cNvSpPr/>
          <p:nvPr/>
        </p:nvSpPr>
        <p:spPr>
          <a:xfrm>
            <a:off x="8869680" y="2468880"/>
            <a:ext cx="457200" cy="457200"/>
          </a:xfrm>
          <a:prstGeom prst="rect">
            <a:avLst/>
          </a:prstGeom>
          <a:noFill/>
          <a:ln/>
        </p:spPr>
        <p:txBody>
          <a:bodyPr wrap="square" rtlCol="0" anchor="ctr"/>
          <a:lstStyle/>
          <a:p>
            <a:pPr algn="ctr" indent="0" marL="0">
              <a:buNone/>
            </a:pPr>
            <a:r>
              <a:rPr lang="en-US" sz="1500" b="1" dirty="0">
                <a:solidFill>
                  <a:srgbClr val="17110A"/>
                </a:solidFill>
                <a:latin typeface="Cambria" pitchFamily="34" charset="0"/>
                <a:ea typeface="Cambria" pitchFamily="34" charset="-122"/>
                <a:cs typeface="Cambria" pitchFamily="34" charset="-120"/>
              </a:rPr>
              <a:t>4</a:t>
            </a:r>
            <a:endParaRPr lang="en-US" sz="1500" dirty="0"/>
          </a:p>
        </p:txBody>
      </p:sp>
      <p:sp>
        <p:nvSpPr>
          <p:cNvPr id="26" name="Text 24"/>
          <p:cNvSpPr/>
          <p:nvPr/>
        </p:nvSpPr>
        <p:spPr>
          <a:xfrm>
            <a:off x="8869680" y="2999232"/>
            <a:ext cx="2057400" cy="41148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Καθυστέρηση 1ms</a:t>
            </a:r>
            <a:endParaRPr lang="en-US" sz="1250" dirty="0"/>
          </a:p>
        </p:txBody>
      </p:sp>
      <p:sp>
        <p:nvSpPr>
          <p:cNvPr id="27" name="Text 25"/>
          <p:cNvSpPr/>
          <p:nvPr/>
        </p:nvSpPr>
        <p:spPr>
          <a:xfrm>
            <a:off x="8915400" y="3401568"/>
            <a:ext cx="1965960" cy="685800"/>
          </a:xfrm>
          <a:prstGeom prst="rect">
            <a:avLst/>
          </a:prstGeom>
          <a:noFill/>
          <a:ln/>
        </p:spPr>
        <p:txBody>
          <a:bodyPr wrap="square" rtlCol="0" anchor="ctr"/>
          <a:lstStyle/>
          <a:p>
            <a:pPr algn="ctr" indent="0" marL="0">
              <a:lnSpc>
                <a:spcPts val="1150"/>
              </a:lnSpc>
              <a:buNone/>
            </a:pPr>
            <a:r>
              <a:rPr lang="en-US" sz="930" dirty="0">
                <a:solidFill>
                  <a:srgbClr val="B9CDE3"/>
                </a:solidFill>
                <a:latin typeface="Calibri" pitchFamily="34" charset="0"/>
                <a:ea typeface="Calibri" pitchFamily="34" charset="-122"/>
                <a:cs typeface="Calibri" pitchFamily="34" charset="-120"/>
              </a:rPr>
              <a:t>Εισάγεται μικρή καθυστέρηση πριν την επόμενη επανάληψη ελέγχου.</a:t>
            </a:r>
            <a:endParaRPr lang="en-US" sz="930" dirty="0"/>
          </a:p>
        </p:txBody>
      </p:sp>
      <p:sp>
        <p:nvSpPr>
          <p:cNvPr id="28" name="Shape 26"/>
          <p:cNvSpPr/>
          <p:nvPr/>
        </p:nvSpPr>
        <p:spPr>
          <a:xfrm flipV="1">
            <a:off x="3337560" y="4297680"/>
            <a:ext cx="5394960" cy="822960"/>
          </a:xfrm>
          <a:prstGeom prst="bentConnector3">
            <a:avLst/>
          </a:prstGeom>
          <a:noFill/>
          <a:ln w="19050">
            <a:solidFill>
              <a:srgbClr val="39D2C0"/>
            </a:solidFill>
            <a:prstDash val="dash"/>
          </a:ln>
        </p:spPr>
      </p:sp>
      <p:sp>
        <p:nvSpPr>
          <p:cNvPr id="29" name="Text 27"/>
          <p:cNvSpPr/>
          <p:nvPr/>
        </p:nvSpPr>
        <p:spPr>
          <a:xfrm>
            <a:off x="3337560" y="5029200"/>
            <a:ext cx="5394960" cy="274320"/>
          </a:xfrm>
          <a:prstGeom prst="rect">
            <a:avLst/>
          </a:prstGeom>
          <a:noFill/>
          <a:ln/>
        </p:spPr>
        <p:txBody>
          <a:bodyPr wrap="square" rtlCol="0" anchor="ctr"/>
          <a:lstStyle/>
          <a:p>
            <a:pPr algn="ctr" indent="0" marL="0">
              <a:buNone/>
            </a:pPr>
            <a:r>
              <a:rPr lang="en-US" sz="950" i="1" dirty="0">
                <a:solidFill>
                  <a:srgbClr val="39D2C0"/>
                </a:solidFill>
                <a:latin typeface="Calibri" pitchFamily="34" charset="0"/>
                <a:ea typeface="Calibri" pitchFamily="34" charset="-122"/>
                <a:cs typeface="Calibri" pitchFamily="34" charset="-120"/>
              </a:rPr>
              <a:t>επιστροφή στον βρόχο</a:t>
            </a:r>
            <a:endParaRPr lang="en-US" sz="950" dirty="0"/>
          </a:p>
        </p:txBody>
      </p:sp>
      <p:sp>
        <p:nvSpPr>
          <p:cNvPr id="30" name="Text 28"/>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31" name="Shape 29"/>
          <p:cNvSpPr/>
          <p:nvPr/>
        </p:nvSpPr>
        <p:spPr>
          <a:xfrm>
            <a:off x="11475720" y="6419088"/>
            <a:ext cx="384048" cy="384048"/>
          </a:xfrm>
          <a:prstGeom prst="ellipse">
            <a:avLst/>
          </a:prstGeom>
          <a:solidFill>
            <a:srgbClr val="FFB020"/>
          </a:solidFill>
          <a:ln/>
        </p:spPr>
      </p:sp>
      <p:sp>
        <p:nvSpPr>
          <p:cNvPr id="32" name="Text 30"/>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ΑΝΆΛΥΣΗ ΚΏΔΙΚΑ</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Προγραμματιστική Ανάλυση</a:t>
            </a:r>
            <a:endParaRPr lang="en-US" sz="3000" dirty="0"/>
          </a:p>
        </p:txBody>
      </p:sp>
      <p:sp>
        <p:nvSpPr>
          <p:cNvPr id="4" name="Shape 2"/>
          <p:cNvSpPr/>
          <p:nvPr/>
        </p:nvSpPr>
        <p:spPr>
          <a:xfrm>
            <a:off x="640080" y="1783080"/>
            <a:ext cx="5257800" cy="4160520"/>
          </a:xfrm>
          <a:prstGeom prst="roundRect">
            <a:avLst>
              <a:gd name="adj" fmla="val 2637"/>
            </a:avLst>
          </a:prstGeom>
          <a:solidFill>
            <a:srgbClr val="132B47"/>
          </a:solidFill>
          <a:ln/>
          <a:effectLst>
            <a:outerShdw sx="100000" sy="100000" kx="0" ky="0" algn="bl" rotWithShape="0" blurRad="101600" dist="38100" dir="5400000">
              <a:srgbClr val="000000">
                <a:alpha val="35000"/>
              </a:srgbClr>
            </a:outerShdw>
          </a:effectLst>
        </p:spPr>
      </p:sp>
      <p:sp>
        <p:nvSpPr>
          <p:cNvPr id="5" name="Shape 3"/>
          <p:cNvSpPr/>
          <p:nvPr/>
        </p:nvSpPr>
        <p:spPr>
          <a:xfrm>
            <a:off x="982980" y="2125980"/>
            <a:ext cx="685800" cy="685800"/>
          </a:xfrm>
          <a:prstGeom prst="ellipse">
            <a:avLst/>
          </a:prstGeom>
          <a:solidFill>
            <a:srgbClr val="FFB020">
              <a:alpha val="20000"/>
            </a:srgbClr>
          </a:solidFill>
          <a:ln w="15875">
            <a:solidFill>
              <a:srgbClr val="FFB020"/>
            </a:solidFill>
            <a:prstDash val="solid"/>
          </a:ln>
        </p:spPr>
      </p:sp>
      <p:sp>
        <p:nvSpPr>
          <p:cNvPr id="6" name="Shape 4"/>
          <p:cNvSpPr/>
          <p:nvPr/>
        </p:nvSpPr>
        <p:spPr>
          <a:xfrm>
            <a:off x="1154430" y="2297430"/>
            <a:ext cx="342900" cy="342900"/>
          </a:xfrm>
          <a:prstGeom prst="gear6">
            <a:avLst/>
          </a:prstGeom>
          <a:solidFill>
            <a:srgbClr val="FFB020"/>
          </a:solidFill>
          <a:ln/>
        </p:spPr>
      </p:sp>
      <p:sp>
        <p:nvSpPr>
          <p:cNvPr id="7" name="Text 5"/>
          <p:cNvSpPr/>
          <p:nvPr/>
        </p:nvSpPr>
        <p:spPr>
          <a:xfrm>
            <a:off x="1005840" y="3154680"/>
            <a:ext cx="4526280" cy="457200"/>
          </a:xfrm>
          <a:prstGeom prst="rect">
            <a:avLst/>
          </a:prstGeom>
          <a:noFill/>
          <a:ln/>
        </p:spPr>
        <p:txBody>
          <a:bodyPr wrap="square" rtlCol="0" anchor="ctr"/>
          <a:lstStyle/>
          <a:p>
            <a:pPr algn="l" indent="0" marL="0">
              <a:buNone/>
            </a:pPr>
            <a:r>
              <a:rPr lang="en-US" sz="1500" b="1" dirty="0">
                <a:solidFill>
                  <a:srgbClr val="FFFFFF"/>
                </a:solidFill>
                <a:latin typeface="Cambria" pitchFamily="34" charset="0"/>
                <a:ea typeface="Cambria" pitchFamily="34" charset="-122"/>
                <a:cs typeface="Cambria" pitchFamily="34" charset="-120"/>
              </a:rPr>
              <a:t>MX_GPIO_Init()</a:t>
            </a:r>
            <a:endParaRPr lang="en-US" sz="1500" dirty="0"/>
          </a:p>
        </p:txBody>
      </p:sp>
      <p:sp>
        <p:nvSpPr>
          <p:cNvPr id="8" name="Shape 6"/>
          <p:cNvSpPr/>
          <p:nvPr/>
        </p:nvSpPr>
        <p:spPr>
          <a:xfrm>
            <a:off x="1005840" y="3657600"/>
            <a:ext cx="4526280" cy="0"/>
          </a:xfrm>
          <a:prstGeom prst="line">
            <a:avLst/>
          </a:prstGeom>
          <a:noFill/>
          <a:ln w="12700">
            <a:solidFill>
              <a:srgbClr val="FFB020">
                <a:alpha val="60000"/>
              </a:srgbClr>
            </a:solidFill>
            <a:prstDash val="solid"/>
          </a:ln>
        </p:spPr>
      </p:sp>
      <p:sp>
        <p:nvSpPr>
          <p:cNvPr id="9" name="Text 7"/>
          <p:cNvSpPr/>
          <p:nvPr/>
        </p:nvSpPr>
        <p:spPr>
          <a:xfrm>
            <a:off x="1005840" y="3840480"/>
            <a:ext cx="4526280" cy="1874520"/>
          </a:xfrm>
          <a:prstGeom prst="rect">
            <a:avLst/>
          </a:prstGeom>
          <a:noFill/>
          <a:ln/>
        </p:spPr>
        <p:txBody>
          <a:bodyPr wrap="square" rtlCol="0" anchor="ctr"/>
          <a:lstStyle/>
          <a:p>
            <a:pPr indent="0" marL="0">
              <a:lnSpc>
                <a:spcPts val="1800"/>
              </a:lnSpc>
              <a:buNone/>
            </a:pPr>
            <a:r>
              <a:rPr lang="en-US" sz="1250" dirty="0">
                <a:solidFill>
                  <a:srgbClr val="B9CDE3"/>
                </a:solidFill>
                <a:latin typeface="Calibri" pitchFamily="34" charset="0"/>
                <a:ea typeface="Calibri" pitchFamily="34" charset="-122"/>
                <a:cs typeface="Calibri" pitchFamily="34" charset="-120"/>
              </a:rPr>
              <a:t>Αρχικοποιεί τα GPIO pins για τα κουμπιά του joystick και τα LEDs, με τη βοήθεια του STM32CubeIDE, που αντιστοιχίζει κάθε pin στο σωστό component του μικροελεγκτή.</a:t>
            </a:r>
            <a:endParaRPr lang="en-US" sz="1250" dirty="0"/>
          </a:p>
        </p:txBody>
      </p:sp>
      <p:sp>
        <p:nvSpPr>
          <p:cNvPr id="10" name="Shape 8"/>
          <p:cNvSpPr/>
          <p:nvPr/>
        </p:nvSpPr>
        <p:spPr>
          <a:xfrm>
            <a:off x="6263640" y="1783080"/>
            <a:ext cx="5257800" cy="4160520"/>
          </a:xfrm>
          <a:prstGeom prst="roundRect">
            <a:avLst>
              <a:gd name="adj" fmla="val 2637"/>
            </a:avLst>
          </a:prstGeom>
          <a:solidFill>
            <a:srgbClr val="132B47"/>
          </a:solidFill>
          <a:ln/>
          <a:effectLst>
            <a:outerShdw sx="100000" sy="100000" kx="0" ky="0" algn="bl" rotWithShape="0" blurRad="101600" dist="38100" dir="5400000">
              <a:srgbClr val="000000">
                <a:alpha val="35000"/>
              </a:srgbClr>
            </a:outerShdw>
          </a:effectLst>
        </p:spPr>
      </p:sp>
      <p:sp>
        <p:nvSpPr>
          <p:cNvPr id="11" name="Shape 9"/>
          <p:cNvSpPr/>
          <p:nvPr/>
        </p:nvSpPr>
        <p:spPr>
          <a:xfrm>
            <a:off x="6606540" y="2125980"/>
            <a:ext cx="685800" cy="685800"/>
          </a:xfrm>
          <a:prstGeom prst="ellipse">
            <a:avLst/>
          </a:prstGeom>
          <a:solidFill>
            <a:srgbClr val="39D2C0">
              <a:alpha val="20000"/>
            </a:srgbClr>
          </a:solidFill>
          <a:ln w="15875">
            <a:solidFill>
              <a:srgbClr val="39D2C0"/>
            </a:solidFill>
            <a:prstDash val="solid"/>
          </a:ln>
        </p:spPr>
      </p:sp>
      <p:sp>
        <p:nvSpPr>
          <p:cNvPr id="12" name="Shape 10"/>
          <p:cNvSpPr/>
          <p:nvPr/>
        </p:nvSpPr>
        <p:spPr>
          <a:xfrm>
            <a:off x="6777990" y="2297430"/>
            <a:ext cx="342900" cy="342900"/>
          </a:xfrm>
          <a:prstGeom prst="flowChartOr">
            <a:avLst/>
          </a:prstGeom>
          <a:solidFill>
            <a:srgbClr val="39D2C0"/>
          </a:solidFill>
          <a:ln/>
        </p:spPr>
      </p:sp>
      <p:sp>
        <p:nvSpPr>
          <p:cNvPr id="13" name="Text 11"/>
          <p:cNvSpPr/>
          <p:nvPr/>
        </p:nvSpPr>
        <p:spPr>
          <a:xfrm>
            <a:off x="6629400" y="3154680"/>
            <a:ext cx="4526280" cy="457200"/>
          </a:xfrm>
          <a:prstGeom prst="rect">
            <a:avLst/>
          </a:prstGeom>
          <a:noFill/>
          <a:ln/>
        </p:spPr>
        <p:txBody>
          <a:bodyPr wrap="square" rtlCol="0" anchor="ctr"/>
          <a:lstStyle/>
          <a:p>
            <a:pPr algn="l" indent="0" marL="0">
              <a:buNone/>
            </a:pPr>
            <a:r>
              <a:rPr lang="en-US" sz="1500" b="1" dirty="0">
                <a:solidFill>
                  <a:srgbClr val="FFFFFF"/>
                </a:solidFill>
                <a:latin typeface="Cambria" pitchFamily="34" charset="0"/>
                <a:ea typeface="Cambria" pitchFamily="34" charset="-122"/>
                <a:cs typeface="Cambria" pitchFamily="34" charset="-120"/>
              </a:rPr>
              <a:t>Δημιουργία Σημαφόρων</a:t>
            </a:r>
            <a:endParaRPr lang="en-US" sz="1500" dirty="0"/>
          </a:p>
        </p:txBody>
      </p:sp>
      <p:sp>
        <p:nvSpPr>
          <p:cNvPr id="14" name="Shape 12"/>
          <p:cNvSpPr/>
          <p:nvPr/>
        </p:nvSpPr>
        <p:spPr>
          <a:xfrm>
            <a:off x="6629400" y="3657600"/>
            <a:ext cx="4526280" cy="0"/>
          </a:xfrm>
          <a:prstGeom prst="line">
            <a:avLst/>
          </a:prstGeom>
          <a:noFill/>
          <a:ln w="12700">
            <a:solidFill>
              <a:srgbClr val="39D2C0">
                <a:alpha val="60000"/>
              </a:srgbClr>
            </a:solidFill>
            <a:prstDash val="solid"/>
          </a:ln>
        </p:spPr>
      </p:sp>
      <p:sp>
        <p:nvSpPr>
          <p:cNvPr id="15" name="Text 13"/>
          <p:cNvSpPr/>
          <p:nvPr/>
        </p:nvSpPr>
        <p:spPr>
          <a:xfrm>
            <a:off x="6629400" y="3840480"/>
            <a:ext cx="4526280" cy="1874520"/>
          </a:xfrm>
          <a:prstGeom prst="rect">
            <a:avLst/>
          </a:prstGeom>
          <a:noFill/>
          <a:ln/>
        </p:spPr>
        <p:txBody>
          <a:bodyPr wrap="square" rtlCol="0" anchor="ctr"/>
          <a:lstStyle/>
          <a:p>
            <a:pPr indent="0" marL="0">
              <a:lnSpc>
                <a:spcPts val="1800"/>
              </a:lnSpc>
              <a:buNone/>
            </a:pPr>
            <a:r>
              <a:rPr lang="en-US" sz="1250" dirty="0">
                <a:solidFill>
                  <a:srgbClr val="B9CDE3"/>
                </a:solidFill>
                <a:latin typeface="Calibri" pitchFamily="34" charset="0"/>
                <a:ea typeface="Calibri" pitchFamily="34" charset="-122"/>
                <a:cs typeface="Calibri" pitchFamily="34" charset="-120"/>
              </a:rPr>
              <a:t>Για κάθε κουμπί χρησιμοποιείται σημαφόρος ώστε η κρίσιμη ακολουθία ενεργειών να εκτελείται μία φορά ανά πάτημα, αποτρέποντας παράλληλες εκτελέσεις και καταστάσεις ανταγωνισμού.</a:t>
            </a:r>
            <a:endParaRPr lang="en-US" sz="1250" dirty="0"/>
          </a:p>
        </p:txBody>
      </p:sp>
      <p:sp>
        <p:nvSpPr>
          <p:cNvPr id="16" name="Text 14"/>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17" name="Shape 15"/>
          <p:cNvSpPr/>
          <p:nvPr/>
        </p:nvSpPr>
        <p:spPr>
          <a:xfrm>
            <a:off x="11475720" y="6419088"/>
            <a:ext cx="384048" cy="384048"/>
          </a:xfrm>
          <a:prstGeom prst="ellipse">
            <a:avLst/>
          </a:prstGeom>
          <a:solidFill>
            <a:srgbClr val="FFB020"/>
          </a:solidFill>
          <a:ln/>
        </p:spPr>
      </p:sp>
      <p:sp>
        <p:nvSpPr>
          <p:cNvPr id="18" name="Text 16"/>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ΑΝΆΛΥΣΗ ΚΏΔΙΚΑ</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Προγραμματιστική Ανάλυση</a:t>
            </a:r>
            <a:endParaRPr lang="en-US" sz="3000" dirty="0"/>
          </a:p>
        </p:txBody>
      </p:sp>
      <p:sp>
        <p:nvSpPr>
          <p:cNvPr id="4" name="Shape 2"/>
          <p:cNvSpPr/>
          <p:nvPr/>
        </p:nvSpPr>
        <p:spPr>
          <a:xfrm>
            <a:off x="640080" y="1783080"/>
            <a:ext cx="5257800" cy="2788920"/>
          </a:xfrm>
          <a:prstGeom prst="roundRect">
            <a:avLst>
              <a:gd name="adj" fmla="val 3934"/>
            </a:avLst>
          </a:prstGeom>
          <a:solidFill>
            <a:srgbClr val="132B47"/>
          </a:solidFill>
          <a:ln/>
          <a:effectLst>
            <a:outerShdw sx="100000" sy="100000" kx="0" ky="0" algn="bl" rotWithShape="0" blurRad="101600" dist="38100" dir="5400000">
              <a:srgbClr val="000000">
                <a:alpha val="35000"/>
              </a:srgbClr>
            </a:outerShdw>
          </a:effectLst>
        </p:spPr>
      </p:sp>
      <p:sp>
        <p:nvSpPr>
          <p:cNvPr id="5" name="Shape 3"/>
          <p:cNvSpPr/>
          <p:nvPr/>
        </p:nvSpPr>
        <p:spPr>
          <a:xfrm>
            <a:off x="914400" y="2011680"/>
            <a:ext cx="548640" cy="548640"/>
          </a:xfrm>
          <a:prstGeom prst="ellipse">
            <a:avLst/>
          </a:prstGeom>
          <a:solidFill>
            <a:srgbClr val="FFB020">
              <a:alpha val="20000"/>
            </a:srgbClr>
          </a:solidFill>
          <a:ln w="15875">
            <a:solidFill>
              <a:srgbClr val="FFB020"/>
            </a:solidFill>
            <a:prstDash val="solid"/>
          </a:ln>
        </p:spPr>
      </p:sp>
      <p:sp>
        <p:nvSpPr>
          <p:cNvPr id="6" name="Shape 4"/>
          <p:cNvSpPr/>
          <p:nvPr/>
        </p:nvSpPr>
        <p:spPr>
          <a:xfrm>
            <a:off x="1051560" y="2148840"/>
            <a:ext cx="274320" cy="274320"/>
          </a:xfrm>
          <a:prstGeom prst="chevron">
            <a:avLst/>
          </a:prstGeom>
          <a:solidFill>
            <a:srgbClr val="FFB020"/>
          </a:solidFill>
          <a:ln/>
        </p:spPr>
      </p:sp>
      <p:sp>
        <p:nvSpPr>
          <p:cNvPr id="7" name="Text 5"/>
          <p:cNvSpPr/>
          <p:nvPr/>
        </p:nvSpPr>
        <p:spPr>
          <a:xfrm>
            <a:off x="1554480" y="2002536"/>
            <a:ext cx="4069080" cy="594360"/>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USBPD_DPM_SNK_EvaluateCapabilitiesPDO</a:t>
            </a:r>
            <a:endParaRPr lang="en-US" sz="1250" dirty="0"/>
          </a:p>
        </p:txBody>
      </p:sp>
      <p:sp>
        <p:nvSpPr>
          <p:cNvPr id="8" name="Text 6"/>
          <p:cNvSpPr/>
          <p:nvPr/>
        </p:nvSpPr>
        <p:spPr>
          <a:xfrm>
            <a:off x="960120" y="2743200"/>
            <a:ext cx="4617720" cy="1645920"/>
          </a:xfrm>
          <a:prstGeom prst="rect">
            <a:avLst/>
          </a:prstGeom>
          <a:noFill/>
          <a:ln/>
        </p:spPr>
        <p:txBody>
          <a:bodyPr wrap="square" rtlCol="0" anchor="ctr"/>
          <a:lstStyle/>
          <a:p>
            <a:pPr indent="0" marL="0">
              <a:lnSpc>
                <a:spcPts val="1550"/>
              </a:lnSpc>
              <a:buNone/>
            </a:pPr>
            <a:r>
              <a:rPr lang="en-US" sz="1130" dirty="0">
                <a:solidFill>
                  <a:srgbClr val="B9CDE3"/>
                </a:solidFill>
                <a:latin typeface="Calibri" pitchFamily="34" charset="0"/>
                <a:ea typeface="Calibri" pitchFamily="34" charset="-122"/>
                <a:cs typeface="Calibri" pitchFamily="34" charset="-120"/>
              </a:rPr>
              <a:t>Αναλύει τις δυνατότητες του δέκτη USB-PD, εξετάζοντας τα δεδομένα της πηγής, και προετοιμάζει το RDO με τις απαιτήσεις ισχύος του δέκτη.</a:t>
            </a:r>
            <a:endParaRPr lang="en-US" sz="1130" dirty="0"/>
          </a:p>
        </p:txBody>
      </p:sp>
      <p:sp>
        <p:nvSpPr>
          <p:cNvPr id="9" name="Shape 7"/>
          <p:cNvSpPr/>
          <p:nvPr/>
        </p:nvSpPr>
        <p:spPr>
          <a:xfrm>
            <a:off x="6263640" y="1783080"/>
            <a:ext cx="5257800" cy="2788920"/>
          </a:xfrm>
          <a:prstGeom prst="roundRect">
            <a:avLst>
              <a:gd name="adj" fmla="val 3934"/>
            </a:avLst>
          </a:prstGeom>
          <a:solidFill>
            <a:srgbClr val="132B47"/>
          </a:solidFill>
          <a:ln/>
          <a:effectLst>
            <a:outerShdw sx="100000" sy="100000" kx="0" ky="0" algn="bl" rotWithShape="0" blurRad="101600" dist="38100" dir="5400000">
              <a:srgbClr val="000000">
                <a:alpha val="35000"/>
              </a:srgbClr>
            </a:outerShdw>
          </a:effectLst>
        </p:spPr>
      </p:sp>
      <p:sp>
        <p:nvSpPr>
          <p:cNvPr id="10" name="Shape 8"/>
          <p:cNvSpPr/>
          <p:nvPr/>
        </p:nvSpPr>
        <p:spPr>
          <a:xfrm>
            <a:off x="6537960" y="2011680"/>
            <a:ext cx="548640" cy="548640"/>
          </a:xfrm>
          <a:prstGeom prst="ellipse">
            <a:avLst/>
          </a:prstGeom>
          <a:solidFill>
            <a:srgbClr val="39D2C0">
              <a:alpha val="20000"/>
            </a:srgbClr>
          </a:solidFill>
          <a:ln w="15875">
            <a:solidFill>
              <a:srgbClr val="39D2C0"/>
            </a:solidFill>
            <a:prstDash val="solid"/>
          </a:ln>
        </p:spPr>
      </p:sp>
      <p:sp>
        <p:nvSpPr>
          <p:cNvPr id="11" name="Shape 9"/>
          <p:cNvSpPr/>
          <p:nvPr/>
        </p:nvSpPr>
        <p:spPr>
          <a:xfrm>
            <a:off x="6675120" y="2148840"/>
            <a:ext cx="274320" cy="274320"/>
          </a:xfrm>
          <a:prstGeom prst="swooshArrow">
            <a:avLst/>
          </a:prstGeom>
          <a:solidFill>
            <a:srgbClr val="39D2C0"/>
          </a:solidFill>
          <a:ln/>
        </p:spPr>
      </p:sp>
      <p:sp>
        <p:nvSpPr>
          <p:cNvPr id="12" name="Text 10"/>
          <p:cNvSpPr/>
          <p:nvPr/>
        </p:nvSpPr>
        <p:spPr>
          <a:xfrm>
            <a:off x="7178040" y="2002536"/>
            <a:ext cx="4069080" cy="594360"/>
          </a:xfrm>
          <a:prstGeom prst="rect">
            <a:avLst/>
          </a:prstGeom>
          <a:noFill/>
          <a:ln/>
        </p:spPr>
        <p:txBody>
          <a:bodyPr wrap="square"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USBPD_PE_Send_Request</a:t>
            </a:r>
            <a:endParaRPr lang="en-US" sz="1250" dirty="0"/>
          </a:p>
        </p:txBody>
      </p:sp>
      <p:sp>
        <p:nvSpPr>
          <p:cNvPr id="13" name="Text 11"/>
          <p:cNvSpPr/>
          <p:nvPr/>
        </p:nvSpPr>
        <p:spPr>
          <a:xfrm>
            <a:off x="6583680" y="2743200"/>
            <a:ext cx="4617720" cy="1645920"/>
          </a:xfrm>
          <a:prstGeom prst="rect">
            <a:avLst/>
          </a:prstGeom>
          <a:noFill/>
          <a:ln/>
        </p:spPr>
        <p:txBody>
          <a:bodyPr wrap="square" rtlCol="0" anchor="ctr"/>
          <a:lstStyle/>
          <a:p>
            <a:pPr indent="0" marL="0">
              <a:lnSpc>
                <a:spcPts val="1550"/>
              </a:lnSpc>
              <a:buNone/>
            </a:pPr>
            <a:r>
              <a:rPr lang="en-US" sz="1130" dirty="0">
                <a:solidFill>
                  <a:srgbClr val="B9CDE3"/>
                </a:solidFill>
                <a:latin typeface="Calibri" pitchFamily="34" charset="0"/>
                <a:ea typeface="Calibri" pitchFamily="34" charset="-122"/>
                <a:cs typeface="Calibri" pitchFamily="34" charset="-120"/>
              </a:rPr>
              <a:t>Στέλνει το προετοιμασμένο RDO προς την πηγή, επικοινωνώντας την επιθυμητή αλλαγή τροφοδοσίας.</a:t>
            </a:r>
            <a:endParaRPr lang="en-US" sz="1130" dirty="0"/>
          </a:p>
        </p:txBody>
      </p:sp>
      <p:sp>
        <p:nvSpPr>
          <p:cNvPr id="14" name="Shape 12"/>
          <p:cNvSpPr/>
          <p:nvPr/>
        </p:nvSpPr>
        <p:spPr>
          <a:xfrm>
            <a:off x="640080" y="4846320"/>
            <a:ext cx="10881360" cy="1051560"/>
          </a:xfrm>
          <a:prstGeom prst="roundRect">
            <a:avLst>
              <a:gd name="adj" fmla="val 10435"/>
            </a:avLst>
          </a:prstGeom>
          <a:solidFill>
            <a:srgbClr val="0E2238"/>
          </a:solidFill>
          <a:ln/>
          <a:effectLst>
            <a:outerShdw sx="100000" sy="100000" kx="0" ky="0" algn="bl" rotWithShape="0" blurRad="101600" dist="38100" dir="5400000">
              <a:srgbClr val="000000">
                <a:alpha val="35000"/>
              </a:srgbClr>
            </a:outerShdw>
          </a:effectLst>
        </p:spPr>
      </p:sp>
      <p:sp>
        <p:nvSpPr>
          <p:cNvPr id="15" name="Text 13"/>
          <p:cNvSpPr/>
          <p:nvPr/>
        </p:nvSpPr>
        <p:spPr>
          <a:xfrm>
            <a:off x="960120" y="4983480"/>
            <a:ext cx="10241280" cy="822960"/>
          </a:xfrm>
          <a:prstGeom prst="rect">
            <a:avLst/>
          </a:prstGeom>
          <a:noFill/>
          <a:ln/>
        </p:spPr>
        <p:txBody>
          <a:bodyPr wrap="square" rtlCol="0" anchor="ctr"/>
          <a:lstStyle/>
          <a:p>
            <a:pPr indent="0" marL="0">
              <a:buNone/>
            </a:pPr>
            <a:r>
              <a:rPr lang="en-US" sz="1200" i="1" dirty="0">
                <a:solidFill>
                  <a:srgbClr val="FFB020"/>
                </a:solidFill>
                <a:latin typeface="Calibri" pitchFamily="34" charset="0"/>
                <a:ea typeface="Calibri" pitchFamily="34" charset="-122"/>
                <a:cs typeface="Calibri" pitchFamily="34" charset="-120"/>
              </a:rPr>
              <a:t>Οι δύο συναρτήσεις συνεργάζονται ώστε να επιτρέψουν ασφαλή και αποτελεσματική διαχείριση της μετάδοσης ισχύος μεταξύ πηγής και δέκτη.</a:t>
            </a:r>
            <a:endParaRPr lang="en-US" sz="1200" dirty="0"/>
          </a:p>
        </p:txBody>
      </p:sp>
      <p:sp>
        <p:nvSpPr>
          <p:cNvPr id="16" name="Text 14"/>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17" name="Shape 15"/>
          <p:cNvSpPr/>
          <p:nvPr/>
        </p:nvSpPr>
        <p:spPr>
          <a:xfrm>
            <a:off x="11475720" y="6419088"/>
            <a:ext cx="384048" cy="384048"/>
          </a:xfrm>
          <a:prstGeom prst="ellipse">
            <a:avLst/>
          </a:prstGeom>
          <a:solidFill>
            <a:srgbClr val="FFB020"/>
          </a:solidFill>
          <a:ln/>
        </p:spPr>
      </p:sp>
      <p:sp>
        <p:nvSpPr>
          <p:cNvPr id="18" name="Text 16"/>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ΠΕΙΡΑΜΑΤΙΚΉ ΔΙΑΔΙΚΑΣΊΑ</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Διαδικασία για τη Διπλωματική Εργασία</a:t>
            </a:r>
            <a:endParaRPr lang="en-US" sz="3000" dirty="0"/>
          </a:p>
        </p:txBody>
      </p:sp>
      <p:sp>
        <p:nvSpPr>
          <p:cNvPr id="4" name="Shape 2"/>
          <p:cNvSpPr/>
          <p:nvPr/>
        </p:nvSpPr>
        <p:spPr>
          <a:xfrm>
            <a:off x="640080" y="1783080"/>
            <a:ext cx="10881360" cy="1783080"/>
          </a:xfrm>
          <a:prstGeom prst="roundRect">
            <a:avLst>
              <a:gd name="adj" fmla="val 6154"/>
            </a:avLst>
          </a:prstGeom>
          <a:solidFill>
            <a:srgbClr val="132B47"/>
          </a:solidFill>
          <a:ln/>
          <a:effectLst>
            <a:outerShdw sx="100000" sy="100000" kx="0" ky="0" algn="bl" rotWithShape="0" blurRad="101600" dist="38100" dir="5400000">
              <a:srgbClr val="000000">
                <a:alpha val="35000"/>
              </a:srgbClr>
            </a:outerShdw>
          </a:effectLst>
        </p:spPr>
      </p:sp>
      <p:sp>
        <p:nvSpPr>
          <p:cNvPr id="5" name="Shape 3"/>
          <p:cNvSpPr/>
          <p:nvPr/>
        </p:nvSpPr>
        <p:spPr>
          <a:xfrm>
            <a:off x="1005840" y="1965960"/>
            <a:ext cx="548640" cy="548640"/>
          </a:xfrm>
          <a:prstGeom prst="ellipse">
            <a:avLst/>
          </a:prstGeom>
          <a:solidFill>
            <a:srgbClr val="FFB020"/>
          </a:solidFill>
          <a:ln/>
        </p:spPr>
      </p:sp>
      <p:sp>
        <p:nvSpPr>
          <p:cNvPr id="6" name="Text 4"/>
          <p:cNvSpPr/>
          <p:nvPr/>
        </p:nvSpPr>
        <p:spPr>
          <a:xfrm>
            <a:off x="1005840" y="1965960"/>
            <a:ext cx="548640" cy="548640"/>
          </a:xfrm>
          <a:prstGeom prst="rect">
            <a:avLst/>
          </a:prstGeom>
          <a:noFill/>
          <a:ln/>
        </p:spPr>
        <p:txBody>
          <a:bodyPr wrap="square" rtlCol="0" anchor="ctr"/>
          <a:lstStyle/>
          <a:p>
            <a:pPr algn="ctr" indent="0" marL="0">
              <a:buNone/>
            </a:pPr>
            <a:r>
              <a:rPr lang="en-US" sz="1500" b="1" dirty="0">
                <a:solidFill>
                  <a:srgbClr val="17110A"/>
                </a:solidFill>
                <a:latin typeface="Cambria" pitchFamily="34" charset="0"/>
                <a:ea typeface="Cambria" pitchFamily="34" charset="-122"/>
                <a:cs typeface="Cambria" pitchFamily="34" charset="-120"/>
              </a:rPr>
              <a:t>0</a:t>
            </a:r>
            <a:endParaRPr lang="en-US" sz="1500" dirty="0"/>
          </a:p>
        </p:txBody>
      </p:sp>
      <p:sp>
        <p:nvSpPr>
          <p:cNvPr id="7" name="Text 5"/>
          <p:cNvSpPr/>
          <p:nvPr/>
        </p:nvSpPr>
        <p:spPr>
          <a:xfrm>
            <a:off x="1737360" y="1947672"/>
            <a:ext cx="9509760" cy="411480"/>
          </a:xfrm>
          <a:prstGeom prst="rect">
            <a:avLst/>
          </a:prstGeom>
          <a:noFill/>
          <a:ln/>
        </p:spPr>
        <p:txBody>
          <a:bodyPr wrap="square"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Βήμα 0 — Σύνδεση &amp; Έλεγχος μέσω Monitor</a:t>
            </a:r>
            <a:endParaRPr lang="en-US" sz="1450" dirty="0"/>
          </a:p>
        </p:txBody>
      </p:sp>
      <p:sp>
        <p:nvSpPr>
          <p:cNvPr id="8" name="Text 6"/>
          <p:cNvSpPr/>
          <p:nvPr/>
        </p:nvSpPr>
        <p:spPr>
          <a:xfrm>
            <a:off x="1737360" y="2377440"/>
            <a:ext cx="9509760" cy="1097280"/>
          </a:xfrm>
          <a:prstGeom prst="rect">
            <a:avLst/>
          </a:prstGeom>
          <a:noFill/>
          <a:ln/>
        </p:spPr>
        <p:txBody>
          <a:bodyPr wrap="square" rtlCol="0" anchor="ctr"/>
          <a:lstStyle/>
          <a:p>
            <a:pPr indent="0" marL="0">
              <a:lnSpc>
                <a:spcPts val="1650"/>
              </a:lnSpc>
              <a:buNone/>
            </a:pPr>
            <a:r>
              <a:rPr lang="en-US" sz="1200" dirty="0">
                <a:solidFill>
                  <a:srgbClr val="B9CDE3"/>
                </a:solidFill>
                <a:latin typeface="Calibri" pitchFamily="34" charset="0"/>
                <a:ea typeface="Calibri" pitchFamily="34" charset="-122"/>
                <a:cs typeface="Calibri" pitchFamily="34" charset="-120"/>
              </a:rPr>
              <a:t>Μετά τη σύνδεση στον φορτιστή και τον υπολογιστή, επιλέγεται η θύρα ("Select Tracer Port", COM3). Η αποσύνδεση/επανασύνδεση του USB-C και το trace "Detach" επιβεβαιώνουν τη σωστή θύρα.</a:t>
            </a:r>
            <a:endParaRPr lang="en-US" sz="1200" dirty="0"/>
          </a:p>
        </p:txBody>
      </p:sp>
      <p:sp>
        <p:nvSpPr>
          <p:cNvPr id="9" name="Shape 7"/>
          <p:cNvSpPr/>
          <p:nvPr/>
        </p:nvSpPr>
        <p:spPr>
          <a:xfrm>
            <a:off x="640080" y="3794760"/>
            <a:ext cx="6583680" cy="2788920"/>
          </a:xfrm>
          <a:prstGeom prst="roundRect">
            <a:avLst>
              <a:gd name="adj" fmla="val 3934"/>
            </a:avLst>
          </a:prstGeom>
          <a:solidFill>
            <a:srgbClr val="132B47"/>
          </a:solidFill>
          <a:ln/>
          <a:effectLst>
            <a:outerShdw sx="100000" sy="100000" kx="0" ky="0" algn="bl" rotWithShape="0" blurRad="101600" dist="38100" dir="5400000">
              <a:srgbClr val="000000">
                <a:alpha val="35000"/>
              </a:srgbClr>
            </a:outerShdw>
          </a:effectLst>
        </p:spPr>
      </p:sp>
      <p:sp>
        <p:nvSpPr>
          <p:cNvPr id="10" name="Shape 8"/>
          <p:cNvSpPr/>
          <p:nvPr/>
        </p:nvSpPr>
        <p:spPr>
          <a:xfrm>
            <a:off x="1005840" y="3977640"/>
            <a:ext cx="548640" cy="548640"/>
          </a:xfrm>
          <a:prstGeom prst="ellipse">
            <a:avLst/>
          </a:prstGeom>
          <a:solidFill>
            <a:srgbClr val="39D2C0"/>
          </a:solidFill>
          <a:ln/>
        </p:spPr>
      </p:sp>
      <p:sp>
        <p:nvSpPr>
          <p:cNvPr id="11" name="Text 9"/>
          <p:cNvSpPr/>
          <p:nvPr/>
        </p:nvSpPr>
        <p:spPr>
          <a:xfrm>
            <a:off x="1005840" y="3977640"/>
            <a:ext cx="548640" cy="548640"/>
          </a:xfrm>
          <a:prstGeom prst="rect">
            <a:avLst/>
          </a:prstGeom>
          <a:noFill/>
          <a:ln/>
        </p:spPr>
        <p:txBody>
          <a:bodyPr wrap="square" rtlCol="0" anchor="ctr"/>
          <a:lstStyle/>
          <a:p>
            <a:pPr algn="ctr" indent="0" marL="0">
              <a:buNone/>
            </a:pPr>
            <a:r>
              <a:rPr lang="en-US" sz="1500" b="1" dirty="0">
                <a:solidFill>
                  <a:srgbClr val="17110A"/>
                </a:solidFill>
                <a:latin typeface="Cambria" pitchFamily="34" charset="0"/>
                <a:ea typeface="Cambria" pitchFamily="34" charset="-122"/>
                <a:cs typeface="Cambria" pitchFamily="34" charset="-120"/>
              </a:rPr>
              <a:t>1</a:t>
            </a:r>
            <a:endParaRPr lang="en-US" sz="1500" dirty="0"/>
          </a:p>
        </p:txBody>
      </p:sp>
      <p:sp>
        <p:nvSpPr>
          <p:cNvPr id="12" name="Text 10"/>
          <p:cNvSpPr/>
          <p:nvPr/>
        </p:nvSpPr>
        <p:spPr>
          <a:xfrm>
            <a:off x="1737360" y="3959352"/>
            <a:ext cx="5303520" cy="411480"/>
          </a:xfrm>
          <a:prstGeom prst="rect">
            <a:avLst/>
          </a:prstGeom>
          <a:noFill/>
          <a:ln/>
        </p:spPr>
        <p:txBody>
          <a:bodyPr wrap="square"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Βήμα 1 — Καταγραφή Δυνατοτήτων Τροφοδοσίας</a:t>
            </a:r>
            <a:endParaRPr lang="en-US" sz="1450" dirty="0"/>
          </a:p>
        </p:txBody>
      </p:sp>
      <p:sp>
        <p:nvSpPr>
          <p:cNvPr id="13" name="Text 11"/>
          <p:cNvSpPr/>
          <p:nvPr/>
        </p:nvSpPr>
        <p:spPr>
          <a:xfrm>
            <a:off x="1737360" y="4389120"/>
            <a:ext cx="5303520" cy="2103120"/>
          </a:xfrm>
          <a:prstGeom prst="rect">
            <a:avLst/>
          </a:prstGeom>
          <a:noFill/>
          <a:ln/>
        </p:spPr>
        <p:txBody>
          <a:bodyPr wrap="square" rtlCol="0" anchor="ctr"/>
          <a:lstStyle/>
          <a:p>
            <a:pPr indent="0" marL="0">
              <a:lnSpc>
                <a:spcPts val="1650"/>
              </a:lnSpc>
              <a:buNone/>
            </a:pPr>
            <a:r>
              <a:rPr lang="en-US" sz="1200" dirty="0">
                <a:solidFill>
                  <a:srgbClr val="B9CDE3"/>
                </a:solidFill>
                <a:latin typeface="Calibri" pitchFamily="34" charset="0"/>
                <a:ea typeface="Calibri" pitchFamily="34" charset="-122"/>
                <a:cs typeface="Calibri" pitchFamily="34" charset="-120"/>
              </a:rPr>
              <a:t>Το σύστημα λειτουργεί ως "sink" λαμβάνοντας ενέργεια από κοινό φορτιστή τηλεφώνου. Τα PDO στο STM32CubeMonitor δείχνουν τις διαθέσιμες τάσεις/ρεύματα· η εργασία εστιάζει σε fixed τιμές.</a:t>
            </a:r>
            <a:endParaRPr lang="en-US" sz="1200" dirty="0"/>
          </a:p>
        </p:txBody>
      </p:sp>
      <p:sp>
        <p:nvSpPr>
          <p:cNvPr id="14" name="Shape 12"/>
          <p:cNvSpPr/>
          <p:nvPr/>
        </p:nvSpPr>
        <p:spPr>
          <a:xfrm>
            <a:off x="7360920" y="4023360"/>
            <a:ext cx="4160520" cy="658368"/>
          </a:xfrm>
          <a:prstGeom prst="roundRect">
            <a:avLst>
              <a:gd name="adj" fmla="val 16667"/>
            </a:avLst>
          </a:prstGeom>
          <a:solidFill>
            <a:srgbClr val="FFFFFF"/>
          </a:solidFill>
          <a:ln/>
          <a:effectLst>
            <a:outerShdw sx="100000" sy="100000" kx="0" ky="0" algn="bl" rotWithShape="0" blurRad="101600" dist="38100" dir="5400000">
              <a:srgbClr val="000000">
                <a:alpha val="35000"/>
              </a:srgbClr>
            </a:outerShdw>
          </a:effectLst>
        </p:spPr>
      </p:sp>
      <p:pic>
        <p:nvPicPr>
          <p:cNvPr id="15" name="Image 0" descr="/home/claude/build/img/image10.png">    </p:cNvPr>
          <p:cNvPicPr>
            <a:picLocks noChangeAspect="1"/>
          </p:cNvPicPr>
          <p:nvPr/>
        </p:nvPicPr>
        <p:blipFill>
          <a:blip r:embed="rId1"/>
          <a:srcRect l="0" r="0" t="0" b="0"/>
          <a:stretch/>
        </p:blipFill>
        <p:spPr>
          <a:xfrm>
            <a:off x="7452360" y="4114800"/>
            <a:ext cx="3977640" cy="475488"/>
          </a:xfrm>
          <a:prstGeom prst="rect">
            <a:avLst/>
          </a:prstGeom>
        </p:spPr>
      </p:pic>
      <p:sp>
        <p:nvSpPr>
          <p:cNvPr id="16" name="Text 13"/>
          <p:cNvSpPr/>
          <p:nvPr/>
        </p:nvSpPr>
        <p:spPr>
          <a:xfrm>
            <a:off x="7452360" y="4709160"/>
            <a:ext cx="3977640" cy="1737360"/>
          </a:xfrm>
          <a:prstGeom prst="rect">
            <a:avLst/>
          </a:prstGeom>
          <a:noFill/>
          <a:ln/>
        </p:spPr>
        <p:txBody>
          <a:bodyPr wrap="square" rtlCol="0" anchor="ctr"/>
          <a:lstStyle/>
          <a:p>
            <a:pPr algn="ctr" indent="0" marL="0">
              <a:buNone/>
            </a:pPr>
            <a:r>
              <a:rPr lang="en-US" sz="1050" i="1" dirty="0">
                <a:solidFill>
                  <a:srgbClr val="84A0C0"/>
                </a:solidFill>
                <a:latin typeface="Calibri" pitchFamily="34" charset="0"/>
                <a:ea typeface="Calibri" pitchFamily="34" charset="-122"/>
                <a:cs typeface="Calibri" pitchFamily="34" charset="-120"/>
              </a:rPr>
              <a:t>Απόσπασμα SRC_CAPABILITIES από το Monitor</a:t>
            </a:r>
            <a:endParaRPr lang="en-US" sz="1050" dirty="0"/>
          </a:p>
        </p:txBody>
      </p:sp>
      <p:sp>
        <p:nvSpPr>
          <p:cNvPr id="17" name="Text 14"/>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18" name="Shape 15"/>
          <p:cNvSpPr/>
          <p:nvPr/>
        </p:nvSpPr>
        <p:spPr>
          <a:xfrm>
            <a:off x="11475720" y="6419088"/>
            <a:ext cx="384048" cy="384048"/>
          </a:xfrm>
          <a:prstGeom prst="ellipse">
            <a:avLst/>
          </a:prstGeom>
          <a:solidFill>
            <a:srgbClr val="FFB020"/>
          </a:solidFill>
          <a:ln/>
        </p:spPr>
      </p:sp>
      <p:sp>
        <p:nvSpPr>
          <p:cNvPr id="19" name="Text 16"/>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ΠΕΙΡΑΜΑΤΙΚΉ ΔΙΑΔΙΚΑΣΊΑ</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Βήμα 2 — Επιλογή Τάσης μέσω Joystick</a:t>
            </a:r>
            <a:endParaRPr lang="en-US" sz="2700" dirty="0"/>
          </a:p>
        </p:txBody>
      </p:sp>
      <p:sp>
        <p:nvSpPr>
          <p:cNvPr id="4" name="Text 2"/>
          <p:cNvSpPr/>
          <p:nvPr/>
        </p:nvSpPr>
        <p:spPr>
          <a:xfrm>
            <a:off x="640080" y="1572768"/>
            <a:ext cx="10881360" cy="502920"/>
          </a:xfrm>
          <a:prstGeom prst="rect">
            <a:avLst/>
          </a:prstGeom>
          <a:noFill/>
          <a:ln/>
        </p:spPr>
        <p:txBody>
          <a:bodyPr wrap="square" rtlCol="0" anchor="ctr"/>
          <a:lstStyle/>
          <a:p>
            <a:pPr indent="0" marL="0">
              <a:buNone/>
            </a:pPr>
            <a:r>
              <a:rPr lang="en-US" sz="1350" i="1" dirty="0">
                <a:solidFill>
                  <a:srgbClr val="B9CDE3"/>
                </a:solidFill>
                <a:latin typeface="Calibri" pitchFamily="34" charset="0"/>
                <a:ea typeface="Calibri" pitchFamily="34" charset="-122"/>
                <a:cs typeface="Calibri" pitchFamily="34" charset="-120"/>
              </a:rPr>
              <a:t>Τρία κουμπιά του joystick αντιστοιχίζονται σε ένα από τα τέσσερα user LEDs, επιτρέποντας στον χρήστη να επιλέξει την επιθυμητή τάση.</a:t>
            </a:r>
            <a:endParaRPr lang="en-US" sz="1350" dirty="0"/>
          </a:p>
        </p:txBody>
      </p:sp>
      <p:sp>
        <p:nvSpPr>
          <p:cNvPr id="5" name="Shape 3"/>
          <p:cNvSpPr/>
          <p:nvPr/>
        </p:nvSpPr>
        <p:spPr>
          <a:xfrm>
            <a:off x="640080" y="2240280"/>
            <a:ext cx="3520440" cy="4251960"/>
          </a:xfrm>
          <a:prstGeom prst="roundRect">
            <a:avLst>
              <a:gd name="adj" fmla="val 3117"/>
            </a:avLst>
          </a:prstGeom>
          <a:solidFill>
            <a:srgbClr val="0E2238"/>
          </a:solidFill>
          <a:ln/>
          <a:effectLst>
            <a:outerShdw sx="100000" sy="100000" kx="0" ky="0" algn="bl" rotWithShape="0" blurRad="101600" dist="38100" dir="5400000">
              <a:srgbClr val="000000">
                <a:alpha val="35000"/>
              </a:srgbClr>
            </a:outerShdw>
          </a:effectLst>
        </p:spPr>
      </p:sp>
      <p:sp>
        <p:nvSpPr>
          <p:cNvPr id="6" name="Shape 4"/>
          <p:cNvSpPr/>
          <p:nvPr/>
        </p:nvSpPr>
        <p:spPr>
          <a:xfrm>
            <a:off x="868680" y="2468880"/>
            <a:ext cx="3063240" cy="502920"/>
          </a:xfrm>
          <a:prstGeom prst="roundRect">
            <a:avLst>
              <a:gd name="adj" fmla="val 14545"/>
            </a:avLst>
          </a:prstGeom>
          <a:solidFill>
            <a:srgbClr val="FFB020"/>
          </a:solidFill>
          <a:ln/>
        </p:spPr>
      </p:sp>
      <p:sp>
        <p:nvSpPr>
          <p:cNvPr id="7" name="Text 5"/>
          <p:cNvSpPr/>
          <p:nvPr/>
        </p:nvSpPr>
        <p:spPr>
          <a:xfrm>
            <a:off x="868680" y="2468880"/>
            <a:ext cx="3063240" cy="502920"/>
          </a:xfrm>
          <a:prstGeom prst="rect">
            <a:avLst/>
          </a:prstGeom>
          <a:noFill/>
          <a:ln/>
        </p:spPr>
        <p:txBody>
          <a:bodyPr wrap="square" rtlCol="0" anchor="ctr"/>
          <a:lstStyle/>
          <a:p>
            <a:pPr algn="ctr" indent="0" marL="0">
              <a:buNone/>
            </a:pPr>
            <a:r>
              <a:rPr lang="en-US" sz="1250" b="1" dirty="0">
                <a:solidFill>
                  <a:srgbClr val="16110A"/>
                </a:solidFill>
                <a:latin typeface="Cambria" pitchFamily="34" charset="0"/>
                <a:ea typeface="Cambria" pitchFamily="34" charset="-122"/>
                <a:cs typeface="Cambria" pitchFamily="34" charset="-120"/>
              </a:rPr>
              <a:t>Select</a:t>
            </a:r>
            <a:endParaRPr lang="en-US" sz="1250" dirty="0"/>
          </a:p>
        </p:txBody>
      </p:sp>
      <p:sp>
        <p:nvSpPr>
          <p:cNvPr id="8" name="Text 6"/>
          <p:cNvSpPr/>
          <p:nvPr/>
        </p:nvSpPr>
        <p:spPr>
          <a:xfrm>
            <a:off x="640080" y="3063240"/>
            <a:ext cx="3520440" cy="68580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5V</a:t>
            </a:r>
            <a:endParaRPr lang="en-US" sz="3000" dirty="0"/>
          </a:p>
        </p:txBody>
      </p:sp>
      <p:sp>
        <p:nvSpPr>
          <p:cNvPr id="9" name="Text 7"/>
          <p:cNvSpPr/>
          <p:nvPr/>
        </p:nvSpPr>
        <p:spPr>
          <a:xfrm>
            <a:off x="640080" y="3703320"/>
            <a:ext cx="3520440" cy="320040"/>
          </a:xfrm>
          <a:prstGeom prst="rect">
            <a:avLst/>
          </a:prstGeom>
          <a:noFill/>
          <a:ln/>
        </p:spPr>
        <p:txBody>
          <a:bodyPr wrap="square" rtlCol="0" anchor="ctr"/>
          <a:lstStyle/>
          <a:p>
            <a:pPr algn="ctr" indent="0" marL="0">
              <a:buNone/>
            </a:pPr>
            <a:r>
              <a:rPr lang="en-US" sz="1100" i="1" dirty="0">
                <a:solidFill>
                  <a:srgbClr val="84A0C0"/>
                </a:solidFill>
                <a:latin typeface="Calibri" pitchFamily="34" charset="0"/>
                <a:ea typeface="Calibri" pitchFamily="34" charset="-122"/>
                <a:cs typeface="Calibri" pitchFamily="34" charset="-120"/>
              </a:rPr>
              <a:t>Κόκκινο LED</a:t>
            </a:r>
            <a:endParaRPr lang="en-US" sz="1100" dirty="0"/>
          </a:p>
        </p:txBody>
      </p:sp>
      <p:sp>
        <p:nvSpPr>
          <p:cNvPr id="10" name="Shape 8"/>
          <p:cNvSpPr/>
          <p:nvPr/>
        </p:nvSpPr>
        <p:spPr>
          <a:xfrm>
            <a:off x="1051560" y="4069080"/>
            <a:ext cx="2697480" cy="1417320"/>
          </a:xfrm>
          <a:prstGeom prst="roundRect">
            <a:avLst>
              <a:gd name="adj" fmla="val 7742"/>
            </a:avLst>
          </a:prstGeom>
          <a:solidFill>
            <a:srgbClr val="FFFFFF"/>
          </a:solidFill>
          <a:ln/>
          <a:effectLst>
            <a:outerShdw sx="100000" sy="100000" kx="0" ky="0" algn="bl" rotWithShape="0" blurRad="101600" dist="38100" dir="5400000">
              <a:srgbClr val="000000">
                <a:alpha val="35000"/>
              </a:srgbClr>
            </a:outerShdw>
          </a:effectLst>
        </p:spPr>
      </p:sp>
      <p:pic>
        <p:nvPicPr>
          <p:cNvPr id="11" name="Image 0" descr="/home/claude/build/img/image18.png">    </p:cNvPr>
          <p:cNvPicPr>
            <a:picLocks noChangeAspect="1"/>
          </p:cNvPicPr>
          <p:nvPr/>
        </p:nvPicPr>
        <p:blipFill>
          <a:blip r:embed="rId1"/>
          <a:srcRect l="0" r="0" t="0" b="0"/>
          <a:stretch/>
        </p:blipFill>
        <p:spPr>
          <a:xfrm>
            <a:off x="1143000" y="4160520"/>
            <a:ext cx="2514600" cy="1234440"/>
          </a:xfrm>
          <a:prstGeom prst="rect">
            <a:avLst/>
          </a:prstGeom>
        </p:spPr>
      </p:pic>
      <p:sp>
        <p:nvSpPr>
          <p:cNvPr id="12" name="Shape 9"/>
          <p:cNvSpPr/>
          <p:nvPr/>
        </p:nvSpPr>
        <p:spPr>
          <a:xfrm>
            <a:off x="777240" y="5440680"/>
            <a:ext cx="3246120" cy="1005840"/>
          </a:xfrm>
          <a:prstGeom prst="roundRect">
            <a:avLst>
              <a:gd name="adj" fmla="val 10909"/>
            </a:avLst>
          </a:prstGeom>
          <a:solidFill>
            <a:srgbClr val="FFFFFF"/>
          </a:solidFill>
          <a:ln/>
          <a:effectLst>
            <a:outerShdw sx="100000" sy="100000" kx="0" ky="0" algn="bl" rotWithShape="0" blurRad="101600" dist="38100" dir="5400000">
              <a:srgbClr val="000000">
                <a:alpha val="35000"/>
              </a:srgbClr>
            </a:outerShdw>
          </a:effectLst>
        </p:spPr>
      </p:sp>
      <p:pic>
        <p:nvPicPr>
          <p:cNvPr id="13" name="Image 1" descr="/home/claude/build/img/image17.png">    </p:cNvPr>
          <p:cNvPicPr>
            <a:picLocks noChangeAspect="1"/>
          </p:cNvPicPr>
          <p:nvPr/>
        </p:nvPicPr>
        <p:blipFill>
          <a:blip r:embed="rId2"/>
          <a:srcRect l="0" r="0" t="0" b="0"/>
          <a:stretch/>
        </p:blipFill>
        <p:spPr>
          <a:xfrm>
            <a:off x="868680" y="5532120"/>
            <a:ext cx="3063240" cy="822960"/>
          </a:xfrm>
          <a:prstGeom prst="rect">
            <a:avLst/>
          </a:prstGeom>
        </p:spPr>
      </p:pic>
      <p:sp>
        <p:nvSpPr>
          <p:cNvPr id="14" name="Shape 10"/>
          <p:cNvSpPr/>
          <p:nvPr/>
        </p:nvSpPr>
        <p:spPr>
          <a:xfrm>
            <a:off x="4343400" y="2240280"/>
            <a:ext cx="3520440" cy="4251960"/>
          </a:xfrm>
          <a:prstGeom prst="roundRect">
            <a:avLst>
              <a:gd name="adj" fmla="val 3117"/>
            </a:avLst>
          </a:prstGeom>
          <a:solidFill>
            <a:srgbClr val="0E2238"/>
          </a:solidFill>
          <a:ln/>
          <a:effectLst>
            <a:outerShdw sx="100000" sy="100000" kx="0" ky="0" algn="bl" rotWithShape="0" blurRad="101600" dist="38100" dir="5400000">
              <a:srgbClr val="000000">
                <a:alpha val="35000"/>
              </a:srgbClr>
            </a:outerShdw>
          </a:effectLst>
        </p:spPr>
      </p:sp>
      <p:sp>
        <p:nvSpPr>
          <p:cNvPr id="15" name="Shape 11"/>
          <p:cNvSpPr/>
          <p:nvPr/>
        </p:nvSpPr>
        <p:spPr>
          <a:xfrm>
            <a:off x="4572000" y="2468880"/>
            <a:ext cx="3063240" cy="502920"/>
          </a:xfrm>
          <a:prstGeom prst="roundRect">
            <a:avLst>
              <a:gd name="adj" fmla="val 14545"/>
            </a:avLst>
          </a:prstGeom>
          <a:solidFill>
            <a:srgbClr val="39D2C0"/>
          </a:solidFill>
          <a:ln/>
        </p:spPr>
      </p:sp>
      <p:sp>
        <p:nvSpPr>
          <p:cNvPr id="16" name="Text 12"/>
          <p:cNvSpPr/>
          <p:nvPr/>
        </p:nvSpPr>
        <p:spPr>
          <a:xfrm>
            <a:off x="4572000" y="2468880"/>
            <a:ext cx="3063240" cy="502920"/>
          </a:xfrm>
          <a:prstGeom prst="rect">
            <a:avLst/>
          </a:prstGeom>
          <a:noFill/>
          <a:ln/>
        </p:spPr>
        <p:txBody>
          <a:bodyPr wrap="square" rtlCol="0" anchor="ctr"/>
          <a:lstStyle/>
          <a:p>
            <a:pPr algn="ctr" indent="0" marL="0">
              <a:buNone/>
            </a:pPr>
            <a:r>
              <a:rPr lang="en-US" sz="1250" b="1" dirty="0">
                <a:solidFill>
                  <a:srgbClr val="16110A"/>
                </a:solidFill>
                <a:latin typeface="Cambria" pitchFamily="34" charset="0"/>
                <a:ea typeface="Cambria" pitchFamily="34" charset="-122"/>
                <a:cs typeface="Cambria" pitchFamily="34" charset="-120"/>
              </a:rPr>
              <a:t>Down Arrow</a:t>
            </a:r>
            <a:endParaRPr lang="en-US" sz="1250" dirty="0"/>
          </a:p>
        </p:txBody>
      </p:sp>
      <p:sp>
        <p:nvSpPr>
          <p:cNvPr id="17" name="Text 13"/>
          <p:cNvSpPr/>
          <p:nvPr/>
        </p:nvSpPr>
        <p:spPr>
          <a:xfrm>
            <a:off x="4343400" y="3063240"/>
            <a:ext cx="3520440" cy="68580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9V</a:t>
            </a:r>
            <a:endParaRPr lang="en-US" sz="3000" dirty="0"/>
          </a:p>
        </p:txBody>
      </p:sp>
      <p:sp>
        <p:nvSpPr>
          <p:cNvPr id="18" name="Text 14"/>
          <p:cNvSpPr/>
          <p:nvPr/>
        </p:nvSpPr>
        <p:spPr>
          <a:xfrm>
            <a:off x="4343400" y="3703320"/>
            <a:ext cx="3520440" cy="320040"/>
          </a:xfrm>
          <a:prstGeom prst="rect">
            <a:avLst/>
          </a:prstGeom>
          <a:noFill/>
          <a:ln/>
        </p:spPr>
        <p:txBody>
          <a:bodyPr wrap="square" rtlCol="0" anchor="ctr"/>
          <a:lstStyle/>
          <a:p>
            <a:pPr algn="ctr" indent="0" marL="0">
              <a:buNone/>
            </a:pPr>
            <a:r>
              <a:rPr lang="en-US" sz="1100" i="1" dirty="0">
                <a:solidFill>
                  <a:srgbClr val="84A0C0"/>
                </a:solidFill>
                <a:latin typeface="Calibri" pitchFamily="34" charset="0"/>
                <a:ea typeface="Calibri" pitchFamily="34" charset="-122"/>
                <a:cs typeface="Calibri" pitchFamily="34" charset="-120"/>
              </a:rPr>
              <a:t>Πράσινο LED</a:t>
            </a:r>
            <a:endParaRPr lang="en-US" sz="1100" dirty="0"/>
          </a:p>
        </p:txBody>
      </p:sp>
      <p:sp>
        <p:nvSpPr>
          <p:cNvPr id="19" name="Shape 15"/>
          <p:cNvSpPr/>
          <p:nvPr/>
        </p:nvSpPr>
        <p:spPr>
          <a:xfrm>
            <a:off x="4754880" y="4069080"/>
            <a:ext cx="2697480" cy="1417320"/>
          </a:xfrm>
          <a:prstGeom prst="roundRect">
            <a:avLst>
              <a:gd name="adj" fmla="val 7742"/>
            </a:avLst>
          </a:prstGeom>
          <a:solidFill>
            <a:srgbClr val="FFFFFF"/>
          </a:solidFill>
          <a:ln/>
          <a:effectLst>
            <a:outerShdw sx="100000" sy="100000" kx="0" ky="0" algn="bl" rotWithShape="0" blurRad="101600" dist="38100" dir="5400000">
              <a:srgbClr val="000000">
                <a:alpha val="35000"/>
              </a:srgbClr>
            </a:outerShdw>
          </a:effectLst>
        </p:spPr>
      </p:sp>
      <p:pic>
        <p:nvPicPr>
          <p:cNvPr id="20" name="Image 2" descr="/home/claude/build/img/image15.png">    </p:cNvPr>
          <p:cNvPicPr>
            <a:picLocks noChangeAspect="1"/>
          </p:cNvPicPr>
          <p:nvPr/>
        </p:nvPicPr>
        <p:blipFill>
          <a:blip r:embed="rId3"/>
          <a:srcRect l="0" r="0" t="0" b="0"/>
          <a:stretch/>
        </p:blipFill>
        <p:spPr>
          <a:xfrm>
            <a:off x="4846320" y="4160520"/>
            <a:ext cx="2514600" cy="1234440"/>
          </a:xfrm>
          <a:prstGeom prst="rect">
            <a:avLst/>
          </a:prstGeom>
        </p:spPr>
      </p:pic>
      <p:sp>
        <p:nvSpPr>
          <p:cNvPr id="21" name="Shape 16"/>
          <p:cNvSpPr/>
          <p:nvPr/>
        </p:nvSpPr>
        <p:spPr>
          <a:xfrm>
            <a:off x="4480560" y="5440680"/>
            <a:ext cx="3246120" cy="1005840"/>
          </a:xfrm>
          <a:prstGeom prst="roundRect">
            <a:avLst>
              <a:gd name="adj" fmla="val 10909"/>
            </a:avLst>
          </a:prstGeom>
          <a:solidFill>
            <a:srgbClr val="FFFFFF"/>
          </a:solidFill>
          <a:ln/>
          <a:effectLst>
            <a:outerShdw sx="100000" sy="100000" kx="0" ky="0" algn="bl" rotWithShape="0" blurRad="101600" dist="38100" dir="5400000">
              <a:srgbClr val="000000">
                <a:alpha val="35000"/>
              </a:srgbClr>
            </a:outerShdw>
          </a:effectLst>
        </p:spPr>
      </p:sp>
      <p:pic>
        <p:nvPicPr>
          <p:cNvPr id="22" name="Image 3" descr="/home/claude/build/img/image12.png">    </p:cNvPr>
          <p:cNvPicPr>
            <a:picLocks noChangeAspect="1"/>
          </p:cNvPicPr>
          <p:nvPr/>
        </p:nvPicPr>
        <p:blipFill>
          <a:blip r:embed="rId4"/>
          <a:srcRect l="0" r="0" t="0" b="0"/>
          <a:stretch/>
        </p:blipFill>
        <p:spPr>
          <a:xfrm>
            <a:off x="4572000" y="5532120"/>
            <a:ext cx="3063240" cy="822960"/>
          </a:xfrm>
          <a:prstGeom prst="rect">
            <a:avLst/>
          </a:prstGeom>
        </p:spPr>
      </p:pic>
      <p:sp>
        <p:nvSpPr>
          <p:cNvPr id="23" name="Shape 17"/>
          <p:cNvSpPr/>
          <p:nvPr/>
        </p:nvSpPr>
        <p:spPr>
          <a:xfrm>
            <a:off x="8046720" y="2240280"/>
            <a:ext cx="3520440" cy="4251960"/>
          </a:xfrm>
          <a:prstGeom prst="roundRect">
            <a:avLst>
              <a:gd name="adj" fmla="val 3117"/>
            </a:avLst>
          </a:prstGeom>
          <a:solidFill>
            <a:srgbClr val="0E2238"/>
          </a:solidFill>
          <a:ln/>
          <a:effectLst>
            <a:outerShdw sx="100000" sy="100000" kx="0" ky="0" algn="bl" rotWithShape="0" blurRad="101600" dist="38100" dir="5400000">
              <a:srgbClr val="000000">
                <a:alpha val="35000"/>
              </a:srgbClr>
            </a:outerShdw>
          </a:effectLst>
        </p:spPr>
      </p:sp>
      <p:sp>
        <p:nvSpPr>
          <p:cNvPr id="24" name="Shape 18"/>
          <p:cNvSpPr/>
          <p:nvPr/>
        </p:nvSpPr>
        <p:spPr>
          <a:xfrm>
            <a:off x="8275320" y="2468880"/>
            <a:ext cx="3063240" cy="502920"/>
          </a:xfrm>
          <a:prstGeom prst="roundRect">
            <a:avLst>
              <a:gd name="adj" fmla="val 14545"/>
            </a:avLst>
          </a:prstGeom>
          <a:solidFill>
            <a:srgbClr val="FF7A45"/>
          </a:solidFill>
          <a:ln/>
        </p:spPr>
      </p:sp>
      <p:sp>
        <p:nvSpPr>
          <p:cNvPr id="25" name="Text 19"/>
          <p:cNvSpPr/>
          <p:nvPr/>
        </p:nvSpPr>
        <p:spPr>
          <a:xfrm>
            <a:off x="8275320" y="2468880"/>
            <a:ext cx="3063240" cy="502920"/>
          </a:xfrm>
          <a:prstGeom prst="rect">
            <a:avLst/>
          </a:prstGeom>
          <a:noFill/>
          <a:ln/>
        </p:spPr>
        <p:txBody>
          <a:bodyPr wrap="square" rtlCol="0" anchor="ctr"/>
          <a:lstStyle/>
          <a:p>
            <a:pPr algn="ctr" indent="0" marL="0">
              <a:buNone/>
            </a:pPr>
            <a:r>
              <a:rPr lang="en-US" sz="1250" b="1" dirty="0">
                <a:solidFill>
                  <a:srgbClr val="16110A"/>
                </a:solidFill>
                <a:latin typeface="Cambria" pitchFamily="34" charset="0"/>
                <a:ea typeface="Cambria" pitchFamily="34" charset="-122"/>
                <a:cs typeface="Cambria" pitchFamily="34" charset="-120"/>
              </a:rPr>
              <a:t>Left Arrow</a:t>
            </a:r>
            <a:endParaRPr lang="en-US" sz="1250" dirty="0"/>
          </a:p>
        </p:txBody>
      </p:sp>
      <p:sp>
        <p:nvSpPr>
          <p:cNvPr id="26" name="Text 20"/>
          <p:cNvSpPr/>
          <p:nvPr/>
        </p:nvSpPr>
        <p:spPr>
          <a:xfrm>
            <a:off x="8046720" y="3063240"/>
            <a:ext cx="3520440" cy="68580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12V</a:t>
            </a:r>
            <a:endParaRPr lang="en-US" sz="3000" dirty="0"/>
          </a:p>
        </p:txBody>
      </p:sp>
      <p:sp>
        <p:nvSpPr>
          <p:cNvPr id="27" name="Text 21"/>
          <p:cNvSpPr/>
          <p:nvPr/>
        </p:nvSpPr>
        <p:spPr>
          <a:xfrm>
            <a:off x="8046720" y="3703320"/>
            <a:ext cx="3520440" cy="320040"/>
          </a:xfrm>
          <a:prstGeom prst="rect">
            <a:avLst/>
          </a:prstGeom>
          <a:noFill/>
          <a:ln/>
        </p:spPr>
        <p:txBody>
          <a:bodyPr wrap="square" rtlCol="0" anchor="ctr"/>
          <a:lstStyle/>
          <a:p>
            <a:pPr algn="ctr" indent="0" marL="0">
              <a:buNone/>
            </a:pPr>
            <a:r>
              <a:rPr lang="en-US" sz="1100" i="1" dirty="0">
                <a:solidFill>
                  <a:srgbClr val="84A0C0"/>
                </a:solidFill>
                <a:latin typeface="Calibri" pitchFamily="34" charset="0"/>
                <a:ea typeface="Calibri" pitchFamily="34" charset="-122"/>
                <a:cs typeface="Calibri" pitchFamily="34" charset="-120"/>
              </a:rPr>
              <a:t>Πορτοκαλί LED</a:t>
            </a:r>
            <a:endParaRPr lang="en-US" sz="1100" dirty="0"/>
          </a:p>
        </p:txBody>
      </p:sp>
      <p:sp>
        <p:nvSpPr>
          <p:cNvPr id="28" name="Shape 22"/>
          <p:cNvSpPr/>
          <p:nvPr/>
        </p:nvSpPr>
        <p:spPr>
          <a:xfrm>
            <a:off x="8458200" y="4069080"/>
            <a:ext cx="2697480" cy="1417320"/>
          </a:xfrm>
          <a:prstGeom prst="roundRect">
            <a:avLst>
              <a:gd name="adj" fmla="val 7742"/>
            </a:avLst>
          </a:prstGeom>
          <a:solidFill>
            <a:srgbClr val="FFFFFF"/>
          </a:solidFill>
          <a:ln/>
          <a:effectLst>
            <a:outerShdw sx="100000" sy="100000" kx="0" ky="0" algn="bl" rotWithShape="0" blurRad="101600" dist="38100" dir="5400000">
              <a:srgbClr val="000000">
                <a:alpha val="35000"/>
              </a:srgbClr>
            </a:outerShdw>
          </a:effectLst>
        </p:spPr>
      </p:sp>
      <p:pic>
        <p:nvPicPr>
          <p:cNvPr id="29" name="Image 4" descr="/home/claude/build/img/image14.png">    </p:cNvPr>
          <p:cNvPicPr>
            <a:picLocks noChangeAspect="1"/>
          </p:cNvPicPr>
          <p:nvPr/>
        </p:nvPicPr>
        <p:blipFill>
          <a:blip r:embed="rId5"/>
          <a:srcRect l="0" r="0" t="0" b="0"/>
          <a:stretch/>
        </p:blipFill>
        <p:spPr>
          <a:xfrm>
            <a:off x="8549640" y="4160520"/>
            <a:ext cx="2514600" cy="1234440"/>
          </a:xfrm>
          <a:prstGeom prst="rect">
            <a:avLst/>
          </a:prstGeom>
        </p:spPr>
      </p:pic>
      <p:sp>
        <p:nvSpPr>
          <p:cNvPr id="30" name="Shape 23"/>
          <p:cNvSpPr/>
          <p:nvPr/>
        </p:nvSpPr>
        <p:spPr>
          <a:xfrm>
            <a:off x="8183880" y="5440680"/>
            <a:ext cx="3246120" cy="1005840"/>
          </a:xfrm>
          <a:prstGeom prst="roundRect">
            <a:avLst>
              <a:gd name="adj" fmla="val 10909"/>
            </a:avLst>
          </a:prstGeom>
          <a:solidFill>
            <a:srgbClr val="FFFFFF"/>
          </a:solidFill>
          <a:ln/>
          <a:effectLst>
            <a:outerShdw sx="100000" sy="100000" kx="0" ky="0" algn="bl" rotWithShape="0" blurRad="101600" dist="38100" dir="5400000">
              <a:srgbClr val="000000">
                <a:alpha val="35000"/>
              </a:srgbClr>
            </a:outerShdw>
          </a:effectLst>
        </p:spPr>
      </p:sp>
      <p:pic>
        <p:nvPicPr>
          <p:cNvPr id="31" name="Image 5" descr="/home/claude/build/img/image19.png">    </p:cNvPr>
          <p:cNvPicPr>
            <a:picLocks noChangeAspect="1"/>
          </p:cNvPicPr>
          <p:nvPr/>
        </p:nvPicPr>
        <p:blipFill>
          <a:blip r:embed="rId6"/>
          <a:srcRect l="0" r="0" t="0" b="0"/>
          <a:stretch/>
        </p:blipFill>
        <p:spPr>
          <a:xfrm>
            <a:off x="8275320" y="5532120"/>
            <a:ext cx="3063240" cy="822960"/>
          </a:xfrm>
          <a:prstGeom prst="rect">
            <a:avLst/>
          </a:prstGeom>
        </p:spPr>
      </p:pic>
      <p:sp>
        <p:nvSpPr>
          <p:cNvPr id="32" name="Text 24"/>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33" name="Shape 25"/>
          <p:cNvSpPr/>
          <p:nvPr/>
        </p:nvSpPr>
        <p:spPr>
          <a:xfrm>
            <a:off x="11475720" y="6419088"/>
            <a:ext cx="384048" cy="384048"/>
          </a:xfrm>
          <a:prstGeom prst="ellipse">
            <a:avLst/>
          </a:prstGeom>
          <a:solidFill>
            <a:srgbClr val="FFB020"/>
          </a:solidFill>
          <a:ln/>
        </p:spPr>
      </p:sp>
      <p:sp>
        <p:nvSpPr>
          <p:cNvPr id="34" name="Text 26"/>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ΠΕΙΡΑΜΑΤΙΚΉ ΔΙΑΔΙΚΑΣΊΑ</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Διαδικασία για τη Διπλωματική Εργασία</a:t>
            </a:r>
            <a:endParaRPr lang="en-US" sz="3000" dirty="0"/>
          </a:p>
        </p:txBody>
      </p:sp>
      <p:sp>
        <p:nvSpPr>
          <p:cNvPr id="4" name="Shape 2"/>
          <p:cNvSpPr/>
          <p:nvPr/>
        </p:nvSpPr>
        <p:spPr>
          <a:xfrm>
            <a:off x="640080" y="1828800"/>
            <a:ext cx="5257800" cy="4023360"/>
          </a:xfrm>
          <a:prstGeom prst="roundRect">
            <a:avLst>
              <a:gd name="adj" fmla="val 2727"/>
            </a:avLst>
          </a:prstGeom>
          <a:solidFill>
            <a:srgbClr val="132B47"/>
          </a:solidFill>
          <a:ln/>
          <a:effectLst>
            <a:outerShdw sx="100000" sy="100000" kx="0" ky="0" algn="bl" rotWithShape="0" blurRad="101600" dist="38100" dir="5400000">
              <a:srgbClr val="000000">
                <a:alpha val="35000"/>
              </a:srgbClr>
            </a:outerShdw>
          </a:effectLst>
        </p:spPr>
      </p:sp>
      <p:sp>
        <p:nvSpPr>
          <p:cNvPr id="5" name="Shape 3"/>
          <p:cNvSpPr/>
          <p:nvPr/>
        </p:nvSpPr>
        <p:spPr>
          <a:xfrm>
            <a:off x="937260" y="2171700"/>
            <a:ext cx="685800" cy="685800"/>
          </a:xfrm>
          <a:prstGeom prst="ellipse">
            <a:avLst/>
          </a:prstGeom>
          <a:solidFill>
            <a:srgbClr val="FFB020">
              <a:alpha val="20000"/>
            </a:srgbClr>
          </a:solidFill>
          <a:ln w="15875">
            <a:solidFill>
              <a:srgbClr val="FFB020"/>
            </a:solidFill>
            <a:prstDash val="solid"/>
          </a:ln>
        </p:spPr>
      </p:sp>
      <p:sp>
        <p:nvSpPr>
          <p:cNvPr id="6" name="Shape 4"/>
          <p:cNvSpPr/>
          <p:nvPr/>
        </p:nvSpPr>
        <p:spPr>
          <a:xfrm>
            <a:off x="1108710" y="2343150"/>
            <a:ext cx="342900" cy="342900"/>
          </a:xfrm>
          <a:prstGeom prst="octagon">
            <a:avLst/>
          </a:prstGeom>
          <a:solidFill>
            <a:srgbClr val="FFB020"/>
          </a:solidFill>
          <a:ln/>
        </p:spPr>
      </p:sp>
      <p:sp>
        <p:nvSpPr>
          <p:cNvPr id="7" name="Text 5"/>
          <p:cNvSpPr/>
          <p:nvPr/>
        </p:nvSpPr>
        <p:spPr>
          <a:xfrm>
            <a:off x="1005840" y="3200400"/>
            <a:ext cx="4526280" cy="54864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Βήμα 3 — Επιβεβαίωση Επιλογής Τάσης</a:t>
            </a:r>
            <a:endParaRPr lang="en-US" sz="1500" dirty="0"/>
          </a:p>
        </p:txBody>
      </p:sp>
      <p:sp>
        <p:nvSpPr>
          <p:cNvPr id="8" name="Text 6"/>
          <p:cNvSpPr/>
          <p:nvPr/>
        </p:nvSpPr>
        <p:spPr>
          <a:xfrm>
            <a:off x="1005840" y="3840480"/>
            <a:ext cx="4526280" cy="1737360"/>
          </a:xfrm>
          <a:prstGeom prst="rect">
            <a:avLst/>
          </a:prstGeom>
          <a:noFill/>
          <a:ln/>
        </p:spPr>
        <p:txBody>
          <a:bodyPr wrap="square" rtlCol="0" anchor="ctr"/>
          <a:lstStyle/>
          <a:p>
            <a:pPr indent="0" marL="0">
              <a:lnSpc>
                <a:spcPts val="1800"/>
              </a:lnSpc>
              <a:buNone/>
            </a:pPr>
            <a:r>
              <a:rPr lang="en-US" sz="1250" dirty="0">
                <a:solidFill>
                  <a:srgbClr val="B9CDE3"/>
                </a:solidFill>
                <a:latin typeface="Calibri" pitchFamily="34" charset="0"/>
                <a:ea typeface="Calibri" pitchFamily="34" charset="-122"/>
                <a:cs typeface="Calibri" pitchFamily="34" charset="-120"/>
              </a:rPr>
              <a:t>Η επιλογή επιβεβαιώνεται παρακολουθώντας τα traces στο STM32CubeMonitor σε πραγματικό χρόνο, και μετρώντας την τάση στο σημείο USBPD (JP1) με πολύμετρο.</a:t>
            </a:r>
            <a:endParaRPr lang="en-US" sz="1250" dirty="0"/>
          </a:p>
        </p:txBody>
      </p:sp>
      <p:sp>
        <p:nvSpPr>
          <p:cNvPr id="9" name="Shape 7"/>
          <p:cNvSpPr/>
          <p:nvPr/>
        </p:nvSpPr>
        <p:spPr>
          <a:xfrm>
            <a:off x="6263640" y="1828800"/>
            <a:ext cx="5257800" cy="4023360"/>
          </a:xfrm>
          <a:prstGeom prst="roundRect">
            <a:avLst>
              <a:gd name="adj" fmla="val 2727"/>
            </a:avLst>
          </a:prstGeom>
          <a:solidFill>
            <a:srgbClr val="132B47"/>
          </a:solidFill>
          <a:ln/>
          <a:effectLst>
            <a:outerShdw sx="100000" sy="100000" kx="0" ky="0" algn="bl" rotWithShape="0" blurRad="101600" dist="38100" dir="5400000">
              <a:srgbClr val="000000">
                <a:alpha val="35000"/>
              </a:srgbClr>
            </a:outerShdw>
          </a:effectLst>
        </p:spPr>
      </p:sp>
      <p:sp>
        <p:nvSpPr>
          <p:cNvPr id="10" name="Shape 8"/>
          <p:cNvSpPr/>
          <p:nvPr/>
        </p:nvSpPr>
        <p:spPr>
          <a:xfrm>
            <a:off x="6560820" y="2171700"/>
            <a:ext cx="685800" cy="685800"/>
          </a:xfrm>
          <a:prstGeom prst="ellipse">
            <a:avLst/>
          </a:prstGeom>
          <a:solidFill>
            <a:srgbClr val="39D2C0">
              <a:alpha val="20000"/>
            </a:srgbClr>
          </a:solidFill>
          <a:ln w="15875">
            <a:solidFill>
              <a:srgbClr val="39D2C0"/>
            </a:solidFill>
            <a:prstDash val="solid"/>
          </a:ln>
        </p:spPr>
      </p:sp>
      <p:sp>
        <p:nvSpPr>
          <p:cNvPr id="11" name="Shape 9"/>
          <p:cNvSpPr/>
          <p:nvPr/>
        </p:nvSpPr>
        <p:spPr>
          <a:xfrm>
            <a:off x="6732270" y="2343150"/>
            <a:ext cx="342900" cy="342900"/>
          </a:xfrm>
          <a:prstGeom prst="circularArrow">
            <a:avLst/>
          </a:prstGeom>
          <a:solidFill>
            <a:srgbClr val="39D2C0"/>
          </a:solidFill>
          <a:ln/>
        </p:spPr>
      </p:sp>
      <p:sp>
        <p:nvSpPr>
          <p:cNvPr id="12" name="Text 10"/>
          <p:cNvSpPr/>
          <p:nvPr/>
        </p:nvSpPr>
        <p:spPr>
          <a:xfrm>
            <a:off x="6629400" y="3200400"/>
            <a:ext cx="4526280" cy="54864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Βήμα 4 — Αλλαγή Τάσης από τον Χρήστη</a:t>
            </a:r>
            <a:endParaRPr lang="en-US" sz="1500" dirty="0"/>
          </a:p>
        </p:txBody>
      </p:sp>
      <p:sp>
        <p:nvSpPr>
          <p:cNvPr id="13" name="Text 11"/>
          <p:cNvSpPr/>
          <p:nvPr/>
        </p:nvSpPr>
        <p:spPr>
          <a:xfrm>
            <a:off x="6629400" y="3840480"/>
            <a:ext cx="4526280" cy="1737360"/>
          </a:xfrm>
          <a:prstGeom prst="rect">
            <a:avLst/>
          </a:prstGeom>
          <a:noFill/>
          <a:ln/>
        </p:spPr>
        <p:txBody>
          <a:bodyPr wrap="square" rtlCol="0" anchor="ctr"/>
          <a:lstStyle/>
          <a:p>
            <a:pPr indent="0" marL="0">
              <a:lnSpc>
                <a:spcPts val="1800"/>
              </a:lnSpc>
              <a:buNone/>
            </a:pPr>
            <a:r>
              <a:rPr lang="en-US" sz="1250" dirty="0">
                <a:solidFill>
                  <a:srgbClr val="B9CDE3"/>
                </a:solidFill>
                <a:latin typeface="Calibri" pitchFamily="34" charset="0"/>
                <a:ea typeface="Calibri" pitchFamily="34" charset="-122"/>
                <a:cs typeface="Calibri" pitchFamily="34" charset="-120"/>
              </a:rPr>
              <a:t>Ο χρήστης μπορεί να αλλάζει συνεχώς την επιλεγμένη τάση μέσω του joystick, χωρίς επίπτωση στη λειτουργικότητα· κάθε επιλογή επαληθεύεται εκ νέου.</a:t>
            </a:r>
            <a:endParaRPr lang="en-US" sz="1250" dirty="0"/>
          </a:p>
        </p:txBody>
      </p:sp>
      <p:sp>
        <p:nvSpPr>
          <p:cNvPr id="14" name="Text 12"/>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15" name="Shape 13"/>
          <p:cNvSpPr/>
          <p:nvPr/>
        </p:nvSpPr>
        <p:spPr>
          <a:xfrm>
            <a:off x="11475720" y="6419088"/>
            <a:ext cx="384048" cy="384048"/>
          </a:xfrm>
          <a:prstGeom prst="ellipse">
            <a:avLst/>
          </a:prstGeom>
          <a:solidFill>
            <a:srgbClr val="FFB020"/>
          </a:solidFill>
          <a:ln/>
        </p:spPr>
      </p:sp>
      <p:sp>
        <p:nvSpPr>
          <p:cNvPr id="16" name="Text 14"/>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ΑΝΆΛΥΣΗ ΑΠΟΤΕΛΕΣΜΆΤΩΝ</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Ανάλυση &amp; Επεξήγηση Traces για USB-PD</a:t>
            </a:r>
            <a:endParaRPr lang="en-US" sz="2700" dirty="0"/>
          </a:p>
        </p:txBody>
      </p:sp>
      <p:sp>
        <p:nvSpPr>
          <p:cNvPr id="4" name="Shape 2"/>
          <p:cNvSpPr/>
          <p:nvPr/>
        </p:nvSpPr>
        <p:spPr>
          <a:xfrm>
            <a:off x="685800" y="1600200"/>
            <a:ext cx="5029200" cy="4892040"/>
          </a:xfrm>
          <a:prstGeom prst="roundRect">
            <a:avLst>
              <a:gd name="adj" fmla="val 2243"/>
            </a:avLst>
          </a:prstGeom>
          <a:solidFill>
            <a:srgbClr val="FFFFFF"/>
          </a:solidFill>
          <a:ln/>
          <a:effectLst>
            <a:outerShdw sx="100000" sy="100000" kx="0" ky="0" algn="bl" rotWithShape="0" blurRad="101600" dist="38100" dir="5400000">
              <a:srgbClr val="000000">
                <a:alpha val="35000"/>
              </a:srgbClr>
            </a:outerShdw>
          </a:effectLst>
        </p:spPr>
      </p:sp>
      <p:pic>
        <p:nvPicPr>
          <p:cNvPr id="5" name="Image 0" descr="/home/claude/build/img/image16.png">    </p:cNvPr>
          <p:cNvPicPr>
            <a:picLocks noChangeAspect="1"/>
          </p:cNvPicPr>
          <p:nvPr/>
        </p:nvPicPr>
        <p:blipFill>
          <a:blip r:embed="rId1"/>
          <a:srcRect l="0" r="0" t="0" b="0"/>
          <a:stretch/>
        </p:blipFill>
        <p:spPr>
          <a:xfrm>
            <a:off x="777240" y="1691640"/>
            <a:ext cx="4846320" cy="4709160"/>
          </a:xfrm>
          <a:prstGeom prst="rect">
            <a:avLst/>
          </a:prstGeom>
        </p:spPr>
      </p:pic>
      <p:sp>
        <p:nvSpPr>
          <p:cNvPr id="6" name="Shape 3"/>
          <p:cNvSpPr/>
          <p:nvPr/>
        </p:nvSpPr>
        <p:spPr>
          <a:xfrm>
            <a:off x="5852160" y="2194560"/>
            <a:ext cx="5669280" cy="3657600"/>
          </a:xfrm>
          <a:prstGeom prst="roundRect">
            <a:avLst>
              <a:gd name="adj" fmla="val 3000"/>
            </a:avLst>
          </a:prstGeom>
          <a:solidFill>
            <a:srgbClr val="0E2238"/>
          </a:solidFill>
          <a:ln/>
          <a:effectLst>
            <a:outerShdw sx="100000" sy="100000" kx="0" ky="0" algn="bl" rotWithShape="0" blurRad="101600" dist="38100" dir="5400000">
              <a:srgbClr val="000000">
                <a:alpha val="35000"/>
              </a:srgbClr>
            </a:outerShdw>
          </a:effectLst>
        </p:spPr>
      </p:sp>
      <p:sp>
        <p:nvSpPr>
          <p:cNvPr id="7" name="Shape 4"/>
          <p:cNvSpPr/>
          <p:nvPr/>
        </p:nvSpPr>
        <p:spPr>
          <a:xfrm>
            <a:off x="6195060" y="2537460"/>
            <a:ext cx="685800" cy="685800"/>
          </a:xfrm>
          <a:prstGeom prst="ellipse">
            <a:avLst/>
          </a:prstGeom>
          <a:solidFill>
            <a:srgbClr val="FFB020">
              <a:alpha val="20000"/>
            </a:srgbClr>
          </a:solidFill>
          <a:ln w="15875">
            <a:solidFill>
              <a:srgbClr val="FFB020"/>
            </a:solidFill>
            <a:prstDash val="solid"/>
          </a:ln>
        </p:spPr>
      </p:sp>
      <p:sp>
        <p:nvSpPr>
          <p:cNvPr id="8" name="Shape 5"/>
          <p:cNvSpPr/>
          <p:nvPr/>
        </p:nvSpPr>
        <p:spPr>
          <a:xfrm>
            <a:off x="6366510" y="2708910"/>
            <a:ext cx="342900" cy="342900"/>
          </a:xfrm>
          <a:prstGeom prst="circularArrow">
            <a:avLst/>
          </a:prstGeom>
          <a:solidFill>
            <a:srgbClr val="FFB020"/>
          </a:solidFill>
          <a:ln/>
        </p:spPr>
      </p:sp>
      <p:sp>
        <p:nvSpPr>
          <p:cNvPr id="9" name="Text 6"/>
          <p:cNvSpPr/>
          <p:nvPr/>
        </p:nvSpPr>
        <p:spPr>
          <a:xfrm>
            <a:off x="6309360" y="3429000"/>
            <a:ext cx="4937760" cy="2286000"/>
          </a:xfrm>
          <a:prstGeom prst="rect">
            <a:avLst/>
          </a:prstGeom>
          <a:noFill/>
          <a:ln/>
        </p:spPr>
        <p:txBody>
          <a:bodyPr wrap="square" rtlCol="0" anchor="ctr"/>
          <a:lstStyle/>
          <a:p>
            <a:pPr indent="0" marL="0">
              <a:lnSpc>
                <a:spcPts val="2000"/>
              </a:lnSpc>
              <a:buNone/>
            </a:pPr>
            <a:r>
              <a:rPr lang="en-US" sz="1350" dirty="0">
                <a:solidFill>
                  <a:srgbClr val="B9CDE3"/>
                </a:solidFill>
                <a:latin typeface="Calibri" pitchFamily="34" charset="0"/>
                <a:ea typeface="Calibri" pitchFamily="34" charset="-122"/>
                <a:cs typeface="Calibri" pitchFamily="34" charset="-120"/>
              </a:rPr>
              <a:t>Η αλληλουχία traces δείχνει τη διαδικασία όπου η συσκευή Sink ζητά αλλαγή τάσης από τη συσκευή Source. Το αίτημα γίνεται αποδεκτό και η τάση ρυθμίζεται στην επιθυμητή τιμή, μέσω μηνυμάτων αποδοχής, επιβεβαίωσης και αλλαγής κατάστασης.</a:t>
            </a:r>
            <a:endParaRPr lang="en-US" sz="1350" dirty="0"/>
          </a:p>
        </p:txBody>
      </p:sp>
      <p:sp>
        <p:nvSpPr>
          <p:cNvPr id="10" name="Text 7"/>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11" name="Shape 8"/>
          <p:cNvSpPr/>
          <p:nvPr/>
        </p:nvSpPr>
        <p:spPr>
          <a:xfrm>
            <a:off x="11475720" y="6419088"/>
            <a:ext cx="384048" cy="384048"/>
          </a:xfrm>
          <a:prstGeom prst="ellipse">
            <a:avLst/>
          </a:prstGeom>
          <a:solidFill>
            <a:srgbClr val="FFB020"/>
          </a:solidFill>
          <a:ln/>
        </p:spPr>
      </p:sp>
      <p:sp>
        <p:nvSpPr>
          <p:cNvPr id="12" name="Text 9"/>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ΥΛΟΠΟΊΗΣΗ</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Υλοποίηση και Επαλήθευση της Λειτουργικότητας</a:t>
            </a:r>
            <a:endParaRPr lang="en-US" sz="2700" dirty="0"/>
          </a:p>
        </p:txBody>
      </p:sp>
      <p:sp>
        <p:nvSpPr>
          <p:cNvPr id="4" name="Text 2"/>
          <p:cNvSpPr/>
          <p:nvPr/>
        </p:nvSpPr>
        <p:spPr>
          <a:xfrm>
            <a:off x="640080" y="1572768"/>
            <a:ext cx="10881360" cy="777240"/>
          </a:xfrm>
          <a:prstGeom prst="rect">
            <a:avLst/>
          </a:prstGeom>
          <a:noFill/>
          <a:ln/>
        </p:spPr>
        <p:txBody>
          <a:bodyPr wrap="square" rtlCol="0" anchor="ctr"/>
          <a:lstStyle/>
          <a:p>
            <a:pPr indent="0" marL="0">
              <a:buNone/>
            </a:pPr>
            <a:r>
              <a:rPr lang="en-US" sz="1350" i="1" dirty="0">
                <a:solidFill>
                  <a:srgbClr val="B9CDE3"/>
                </a:solidFill>
                <a:latin typeface="Calibri" pitchFamily="34" charset="0"/>
                <a:ea typeface="Calibri" pitchFamily="34" charset="-122"/>
                <a:cs typeface="Calibri" pitchFamily="34" charset="-120"/>
              </a:rPr>
              <a:t>Η διαδικασία περιλαμβάνει την ανάπτυξη και σταδιακή τροποποίηση ενός demo προγράμματος σε C, μέσω Visual Studio Code και PlatformIO, με παρακολούθηση traces μέσω STM32CubeMonitor.</a:t>
            </a:r>
            <a:endParaRPr lang="en-US" sz="1350" dirty="0"/>
          </a:p>
        </p:txBody>
      </p:sp>
      <p:sp>
        <p:nvSpPr>
          <p:cNvPr id="5" name="Shape 3"/>
          <p:cNvSpPr/>
          <p:nvPr/>
        </p:nvSpPr>
        <p:spPr>
          <a:xfrm>
            <a:off x="640080" y="2606040"/>
            <a:ext cx="3429000" cy="3291840"/>
          </a:xfrm>
          <a:prstGeom prst="roundRect">
            <a:avLst>
              <a:gd name="adj" fmla="val 3333"/>
            </a:avLst>
          </a:prstGeom>
          <a:solidFill>
            <a:srgbClr val="132B47"/>
          </a:solidFill>
          <a:ln/>
          <a:effectLst>
            <a:outerShdw sx="100000" sy="100000" kx="0" ky="0" algn="bl" rotWithShape="0" blurRad="101600" dist="38100" dir="5400000">
              <a:srgbClr val="000000">
                <a:alpha val="35000"/>
              </a:srgbClr>
            </a:outerShdw>
          </a:effectLst>
        </p:spPr>
      </p:sp>
      <p:sp>
        <p:nvSpPr>
          <p:cNvPr id="6" name="Shape 4"/>
          <p:cNvSpPr/>
          <p:nvPr/>
        </p:nvSpPr>
        <p:spPr>
          <a:xfrm>
            <a:off x="868680" y="2834640"/>
            <a:ext cx="548640" cy="548640"/>
          </a:xfrm>
          <a:prstGeom prst="ellipse">
            <a:avLst/>
          </a:prstGeom>
          <a:solidFill>
            <a:srgbClr val="FFB020"/>
          </a:solidFill>
          <a:ln/>
        </p:spPr>
      </p:sp>
      <p:sp>
        <p:nvSpPr>
          <p:cNvPr id="7" name="Text 5"/>
          <p:cNvSpPr/>
          <p:nvPr/>
        </p:nvSpPr>
        <p:spPr>
          <a:xfrm>
            <a:off x="868680" y="2834640"/>
            <a:ext cx="548640" cy="548640"/>
          </a:xfrm>
          <a:prstGeom prst="rect">
            <a:avLst/>
          </a:prstGeom>
          <a:noFill/>
          <a:ln/>
        </p:spPr>
        <p:txBody>
          <a:bodyPr wrap="square" rtlCol="0" anchor="ctr"/>
          <a:lstStyle/>
          <a:p>
            <a:pPr algn="ctr" indent="0" marL="0">
              <a:buNone/>
            </a:pPr>
            <a:r>
              <a:rPr lang="en-US" sz="1500" b="1" dirty="0">
                <a:solidFill>
                  <a:srgbClr val="17110A"/>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914400" y="3703320"/>
            <a:ext cx="2880360" cy="64008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Έλεγχος LEDs μέσω κουμπιών</a:t>
            </a:r>
            <a:endParaRPr lang="en-US" sz="1350" dirty="0"/>
          </a:p>
        </p:txBody>
      </p:sp>
      <p:sp>
        <p:nvSpPr>
          <p:cNvPr id="9" name="Text 7"/>
          <p:cNvSpPr/>
          <p:nvPr/>
        </p:nvSpPr>
        <p:spPr>
          <a:xfrm>
            <a:off x="914400" y="4389120"/>
            <a:ext cx="2880360" cy="1371600"/>
          </a:xfrm>
          <a:prstGeom prst="rect">
            <a:avLst/>
          </a:prstGeom>
          <a:noFill/>
          <a:ln/>
        </p:spPr>
        <p:txBody>
          <a:bodyPr wrap="square" rtlCol="0" anchor="ctr"/>
          <a:lstStyle/>
          <a:p>
            <a:pPr indent="0" marL="0">
              <a:lnSpc>
                <a:spcPts val="1550"/>
              </a:lnSpc>
              <a:buNone/>
            </a:pPr>
            <a:r>
              <a:rPr lang="en-US" sz="1130" dirty="0">
                <a:solidFill>
                  <a:srgbClr val="B9CDE3"/>
                </a:solidFill>
                <a:latin typeface="Calibri" pitchFamily="34" charset="0"/>
                <a:ea typeface="Calibri" pitchFamily="34" charset="-122"/>
                <a:cs typeface="Calibri" pitchFamily="34" charset="-120"/>
              </a:rPr>
              <a:t>Χρήση σημαφόρων για αποφυγή αλληλεπιδράσεων και προβλημάτων συγχρονισμού.</a:t>
            </a:r>
            <a:endParaRPr lang="en-US" sz="1130" dirty="0"/>
          </a:p>
        </p:txBody>
      </p:sp>
      <p:sp>
        <p:nvSpPr>
          <p:cNvPr id="10" name="Shape 8"/>
          <p:cNvSpPr/>
          <p:nvPr/>
        </p:nvSpPr>
        <p:spPr>
          <a:xfrm>
            <a:off x="4297680" y="2606040"/>
            <a:ext cx="3429000" cy="3291840"/>
          </a:xfrm>
          <a:prstGeom prst="roundRect">
            <a:avLst>
              <a:gd name="adj" fmla="val 3333"/>
            </a:avLst>
          </a:prstGeom>
          <a:solidFill>
            <a:srgbClr val="132B47"/>
          </a:solidFill>
          <a:ln/>
          <a:effectLst>
            <a:outerShdw sx="100000" sy="100000" kx="0" ky="0" algn="bl" rotWithShape="0" blurRad="101600" dist="38100" dir="5400000">
              <a:srgbClr val="000000">
                <a:alpha val="35000"/>
              </a:srgbClr>
            </a:outerShdw>
          </a:effectLst>
        </p:spPr>
      </p:sp>
      <p:sp>
        <p:nvSpPr>
          <p:cNvPr id="11" name="Shape 9"/>
          <p:cNvSpPr/>
          <p:nvPr/>
        </p:nvSpPr>
        <p:spPr>
          <a:xfrm>
            <a:off x="4526280" y="2834640"/>
            <a:ext cx="548640" cy="548640"/>
          </a:xfrm>
          <a:prstGeom prst="ellipse">
            <a:avLst/>
          </a:prstGeom>
          <a:solidFill>
            <a:srgbClr val="39D2C0"/>
          </a:solidFill>
          <a:ln/>
        </p:spPr>
      </p:sp>
      <p:sp>
        <p:nvSpPr>
          <p:cNvPr id="12" name="Text 10"/>
          <p:cNvSpPr/>
          <p:nvPr/>
        </p:nvSpPr>
        <p:spPr>
          <a:xfrm>
            <a:off x="4526280" y="2834640"/>
            <a:ext cx="548640" cy="548640"/>
          </a:xfrm>
          <a:prstGeom prst="rect">
            <a:avLst/>
          </a:prstGeom>
          <a:noFill/>
          <a:ln/>
        </p:spPr>
        <p:txBody>
          <a:bodyPr wrap="square" rtlCol="0" anchor="ctr"/>
          <a:lstStyle/>
          <a:p>
            <a:pPr algn="ctr" indent="0" marL="0">
              <a:buNone/>
            </a:pPr>
            <a:r>
              <a:rPr lang="en-US" sz="1500" b="1" dirty="0">
                <a:solidFill>
                  <a:srgbClr val="17110A"/>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4572000" y="3703320"/>
            <a:ext cx="2880360" cy="64008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Αναγνώριση δυνατοτήτων πηγής</a:t>
            </a:r>
            <a:endParaRPr lang="en-US" sz="1350" dirty="0"/>
          </a:p>
        </p:txBody>
      </p:sp>
      <p:sp>
        <p:nvSpPr>
          <p:cNvPr id="14" name="Text 12"/>
          <p:cNvSpPr/>
          <p:nvPr/>
        </p:nvSpPr>
        <p:spPr>
          <a:xfrm>
            <a:off x="4572000" y="4389120"/>
            <a:ext cx="2880360" cy="1371600"/>
          </a:xfrm>
          <a:prstGeom prst="rect">
            <a:avLst/>
          </a:prstGeom>
          <a:noFill/>
          <a:ln/>
        </p:spPr>
        <p:txBody>
          <a:bodyPr wrap="square" rtlCol="0" anchor="ctr"/>
          <a:lstStyle/>
          <a:p>
            <a:pPr indent="0" marL="0">
              <a:lnSpc>
                <a:spcPts val="1550"/>
              </a:lnSpc>
              <a:buNone/>
            </a:pPr>
            <a:r>
              <a:rPr lang="en-US" sz="1130" dirty="0">
                <a:solidFill>
                  <a:srgbClr val="B9CDE3"/>
                </a:solidFill>
                <a:latin typeface="Calibri" pitchFamily="34" charset="0"/>
                <a:ea typeface="Calibri" pitchFamily="34" charset="-122"/>
                <a:cs typeface="Calibri" pitchFamily="34" charset="-120"/>
              </a:rPr>
              <a:t>Υλοποίηση λειτουργίας ανάγνωσης των capabilities του φορτιστή.</a:t>
            </a:r>
            <a:endParaRPr lang="en-US" sz="1130" dirty="0"/>
          </a:p>
        </p:txBody>
      </p:sp>
      <p:sp>
        <p:nvSpPr>
          <p:cNvPr id="15" name="Shape 13"/>
          <p:cNvSpPr/>
          <p:nvPr/>
        </p:nvSpPr>
        <p:spPr>
          <a:xfrm>
            <a:off x="7955280" y="2606040"/>
            <a:ext cx="3429000" cy="3291840"/>
          </a:xfrm>
          <a:prstGeom prst="roundRect">
            <a:avLst>
              <a:gd name="adj" fmla="val 3333"/>
            </a:avLst>
          </a:prstGeom>
          <a:solidFill>
            <a:srgbClr val="132B47"/>
          </a:solidFill>
          <a:ln/>
          <a:effectLst>
            <a:outerShdw sx="100000" sy="100000" kx="0" ky="0" algn="bl" rotWithShape="0" blurRad="101600" dist="38100" dir="5400000">
              <a:srgbClr val="000000">
                <a:alpha val="35000"/>
              </a:srgbClr>
            </a:outerShdw>
          </a:effectLst>
        </p:spPr>
      </p:sp>
      <p:sp>
        <p:nvSpPr>
          <p:cNvPr id="16" name="Shape 14"/>
          <p:cNvSpPr/>
          <p:nvPr/>
        </p:nvSpPr>
        <p:spPr>
          <a:xfrm>
            <a:off x="8183880" y="2834640"/>
            <a:ext cx="548640" cy="548640"/>
          </a:xfrm>
          <a:prstGeom prst="ellipse">
            <a:avLst/>
          </a:prstGeom>
          <a:solidFill>
            <a:srgbClr val="FFB020"/>
          </a:solidFill>
          <a:ln/>
        </p:spPr>
      </p:sp>
      <p:sp>
        <p:nvSpPr>
          <p:cNvPr id="17" name="Text 15"/>
          <p:cNvSpPr/>
          <p:nvPr/>
        </p:nvSpPr>
        <p:spPr>
          <a:xfrm>
            <a:off x="8183880" y="2834640"/>
            <a:ext cx="548640" cy="548640"/>
          </a:xfrm>
          <a:prstGeom prst="rect">
            <a:avLst/>
          </a:prstGeom>
          <a:noFill/>
          <a:ln/>
        </p:spPr>
        <p:txBody>
          <a:bodyPr wrap="square" rtlCol="0" anchor="ctr"/>
          <a:lstStyle/>
          <a:p>
            <a:pPr algn="ctr" indent="0" marL="0">
              <a:buNone/>
            </a:pPr>
            <a:r>
              <a:rPr lang="en-US" sz="1500" b="1" dirty="0">
                <a:solidFill>
                  <a:srgbClr val="17110A"/>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8229600" y="3703320"/>
            <a:ext cx="2880360" cy="64008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Επιλογή επιθυμητής τάσης</a:t>
            </a:r>
            <a:endParaRPr lang="en-US" sz="1350" dirty="0"/>
          </a:p>
        </p:txBody>
      </p:sp>
      <p:sp>
        <p:nvSpPr>
          <p:cNvPr id="19" name="Text 17"/>
          <p:cNvSpPr/>
          <p:nvPr/>
        </p:nvSpPr>
        <p:spPr>
          <a:xfrm>
            <a:off x="8229600" y="4389120"/>
            <a:ext cx="2880360" cy="1371600"/>
          </a:xfrm>
          <a:prstGeom prst="rect">
            <a:avLst/>
          </a:prstGeom>
          <a:noFill/>
          <a:ln/>
        </p:spPr>
        <p:txBody>
          <a:bodyPr wrap="square" rtlCol="0" anchor="ctr"/>
          <a:lstStyle/>
          <a:p>
            <a:pPr indent="0" marL="0">
              <a:lnSpc>
                <a:spcPts val="1550"/>
              </a:lnSpc>
              <a:buNone/>
            </a:pPr>
            <a:r>
              <a:rPr lang="en-US" sz="1130" dirty="0">
                <a:solidFill>
                  <a:srgbClr val="B9CDE3"/>
                </a:solidFill>
                <a:latin typeface="Calibri" pitchFamily="34" charset="0"/>
                <a:ea typeface="Calibri" pitchFamily="34" charset="-122"/>
                <a:cs typeface="Calibri" pitchFamily="34" charset="-120"/>
              </a:rPr>
              <a:t>Υλοποίηση της δυνατότητας επιλογής τάσης μέσω request.</a:t>
            </a:r>
            <a:endParaRPr lang="en-US" sz="1130" dirty="0"/>
          </a:p>
        </p:txBody>
      </p:sp>
      <p:sp>
        <p:nvSpPr>
          <p:cNvPr id="20" name="Text 18"/>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21" name="Shape 19"/>
          <p:cNvSpPr/>
          <p:nvPr/>
        </p:nvSpPr>
        <p:spPr>
          <a:xfrm>
            <a:off x="11475720" y="6419088"/>
            <a:ext cx="384048" cy="384048"/>
          </a:xfrm>
          <a:prstGeom prst="ellipse">
            <a:avLst/>
          </a:prstGeom>
          <a:solidFill>
            <a:srgbClr val="FFB020"/>
          </a:solidFill>
          <a:ln/>
        </p:spPr>
      </p:sp>
      <p:sp>
        <p:nvSpPr>
          <p:cNvPr id="22" name="Text 20"/>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ΜΕΛΛΟΝΤΙΚΈΣ ΕΠΕΚΤΆΣΕΙΣ</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Επιπλέον Λειτουργίες</a:t>
            </a:r>
            <a:endParaRPr lang="en-US" sz="3000" dirty="0"/>
          </a:p>
        </p:txBody>
      </p:sp>
      <p:sp>
        <p:nvSpPr>
          <p:cNvPr id="4" name="Shape 2"/>
          <p:cNvSpPr/>
          <p:nvPr/>
        </p:nvSpPr>
        <p:spPr>
          <a:xfrm>
            <a:off x="640080" y="1783080"/>
            <a:ext cx="5257800" cy="4160520"/>
          </a:xfrm>
          <a:prstGeom prst="roundRect">
            <a:avLst>
              <a:gd name="adj" fmla="val 2637"/>
            </a:avLst>
          </a:prstGeom>
          <a:solidFill>
            <a:srgbClr val="132B47"/>
          </a:solidFill>
          <a:ln/>
          <a:effectLst>
            <a:outerShdw sx="100000" sy="100000" kx="0" ky="0" algn="bl" rotWithShape="0" blurRad="101600" dist="38100" dir="5400000">
              <a:srgbClr val="000000">
                <a:alpha val="35000"/>
              </a:srgbClr>
            </a:outerShdw>
          </a:effectLst>
        </p:spPr>
      </p:sp>
      <p:sp>
        <p:nvSpPr>
          <p:cNvPr id="5" name="Shape 3"/>
          <p:cNvSpPr/>
          <p:nvPr/>
        </p:nvSpPr>
        <p:spPr>
          <a:xfrm>
            <a:off x="982980" y="2125980"/>
            <a:ext cx="685800" cy="685800"/>
          </a:xfrm>
          <a:prstGeom prst="ellipse">
            <a:avLst/>
          </a:prstGeom>
          <a:solidFill>
            <a:srgbClr val="FFB020">
              <a:alpha val="20000"/>
            </a:srgbClr>
          </a:solidFill>
          <a:ln w="15875">
            <a:solidFill>
              <a:srgbClr val="FFB020"/>
            </a:solidFill>
            <a:prstDash val="solid"/>
          </a:ln>
        </p:spPr>
      </p:sp>
      <p:sp>
        <p:nvSpPr>
          <p:cNvPr id="6" name="Shape 4"/>
          <p:cNvSpPr/>
          <p:nvPr/>
        </p:nvSpPr>
        <p:spPr>
          <a:xfrm>
            <a:off x="1154430" y="2297430"/>
            <a:ext cx="342900" cy="342900"/>
          </a:xfrm>
          <a:prstGeom prst="gear9">
            <a:avLst/>
          </a:prstGeom>
          <a:solidFill>
            <a:srgbClr val="FFB020"/>
          </a:solidFill>
          <a:ln/>
        </p:spPr>
      </p:sp>
      <p:sp>
        <p:nvSpPr>
          <p:cNvPr id="7" name="Text 5"/>
          <p:cNvSpPr/>
          <p:nvPr/>
        </p:nvSpPr>
        <p:spPr>
          <a:xfrm>
            <a:off x="1005840" y="3154680"/>
            <a:ext cx="452628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Programmable APDO</a:t>
            </a:r>
            <a:endParaRPr lang="en-US" sz="1500" dirty="0"/>
          </a:p>
        </p:txBody>
      </p:sp>
      <p:sp>
        <p:nvSpPr>
          <p:cNvPr id="8" name="Text 6"/>
          <p:cNvSpPr/>
          <p:nvPr/>
        </p:nvSpPr>
        <p:spPr>
          <a:xfrm>
            <a:off x="1005840" y="3703320"/>
            <a:ext cx="4526280" cy="2057400"/>
          </a:xfrm>
          <a:prstGeom prst="rect">
            <a:avLst/>
          </a:prstGeom>
          <a:noFill/>
          <a:ln/>
        </p:spPr>
        <p:txBody>
          <a:bodyPr wrap="square" rtlCol="0" anchor="t"/>
          <a:lstStyle/>
          <a:p>
            <a:pPr algn="l" marL="177800" indent="-177800">
              <a:spcAft>
                <a:spcPts val="1200"/>
              </a:spcAft>
              <a:buSzPct val="100000"/>
              <a:buChar char="▪"/>
            </a:pPr>
            <a:r>
              <a:rPr lang="en-US" sz="1250" dirty="0">
                <a:solidFill>
                  <a:srgbClr val="B9CDE3"/>
                </a:solidFill>
                <a:latin typeface="Calibri" pitchFamily="34" charset="0"/>
                <a:ea typeface="Calibri" pitchFamily="34" charset="-122"/>
                <a:cs typeface="Calibri" pitchFamily="34" charset="-120"/>
              </a:rPr>
              <a:t>Επέκταση των ρυθμίσεων για υποστήριξη παραμέτρων APDO.</a:t>
            </a:r>
            <a:endParaRPr lang="en-US" sz="1250" dirty="0"/>
          </a:p>
          <a:p>
            <a:pPr algn="l" marL="177800" indent="-177800">
              <a:spcAft>
                <a:spcPts val="1200"/>
              </a:spcAft>
              <a:buSzPct val="100000"/>
              <a:buChar char="▪"/>
            </a:pPr>
            <a:r>
              <a:rPr lang="en-US" sz="1250" dirty="0">
                <a:solidFill>
                  <a:srgbClr val="B9CDE3"/>
                </a:solidFill>
                <a:latin typeface="Calibri" pitchFamily="34" charset="0"/>
                <a:ea typeface="Calibri" pitchFamily="34" charset="-122"/>
                <a:cs typeface="Calibri" pitchFamily="34" charset="-120"/>
              </a:rPr>
              <a:t>Ρύθμιση τιμών τάσης/ρεύματος ανάλογα με τον φορτιστή/πηγή.</a:t>
            </a:r>
            <a:endParaRPr lang="en-US" sz="1250" dirty="0"/>
          </a:p>
        </p:txBody>
      </p:sp>
      <p:sp>
        <p:nvSpPr>
          <p:cNvPr id="9" name="Shape 7"/>
          <p:cNvSpPr/>
          <p:nvPr/>
        </p:nvSpPr>
        <p:spPr>
          <a:xfrm>
            <a:off x="6263640" y="1783080"/>
            <a:ext cx="5257800" cy="4160520"/>
          </a:xfrm>
          <a:prstGeom prst="roundRect">
            <a:avLst>
              <a:gd name="adj" fmla="val 2637"/>
            </a:avLst>
          </a:prstGeom>
          <a:solidFill>
            <a:srgbClr val="132B47"/>
          </a:solidFill>
          <a:ln/>
          <a:effectLst>
            <a:outerShdw sx="100000" sy="100000" kx="0" ky="0" algn="bl" rotWithShape="0" blurRad="101600" dist="38100" dir="5400000">
              <a:srgbClr val="000000">
                <a:alpha val="35000"/>
              </a:srgbClr>
            </a:outerShdw>
          </a:effectLst>
        </p:spPr>
      </p:sp>
      <p:sp>
        <p:nvSpPr>
          <p:cNvPr id="10" name="Shape 8"/>
          <p:cNvSpPr/>
          <p:nvPr/>
        </p:nvSpPr>
        <p:spPr>
          <a:xfrm>
            <a:off x="6606540" y="2125980"/>
            <a:ext cx="685800" cy="685800"/>
          </a:xfrm>
          <a:prstGeom prst="ellipse">
            <a:avLst/>
          </a:prstGeom>
          <a:solidFill>
            <a:srgbClr val="39D2C0">
              <a:alpha val="20000"/>
            </a:srgbClr>
          </a:solidFill>
          <a:ln w="15875">
            <a:solidFill>
              <a:srgbClr val="39D2C0"/>
            </a:solidFill>
            <a:prstDash val="solid"/>
          </a:ln>
        </p:spPr>
      </p:sp>
      <p:sp>
        <p:nvSpPr>
          <p:cNvPr id="11" name="Shape 9"/>
          <p:cNvSpPr/>
          <p:nvPr/>
        </p:nvSpPr>
        <p:spPr>
          <a:xfrm>
            <a:off x="6777990" y="2297430"/>
            <a:ext cx="342900" cy="342900"/>
          </a:xfrm>
          <a:prstGeom prst="bevel">
            <a:avLst/>
          </a:prstGeom>
          <a:solidFill>
            <a:srgbClr val="39D2C0"/>
          </a:solidFill>
          <a:ln/>
        </p:spPr>
      </p:sp>
      <p:sp>
        <p:nvSpPr>
          <p:cNvPr id="12" name="Text 10"/>
          <p:cNvSpPr/>
          <p:nvPr/>
        </p:nvSpPr>
        <p:spPr>
          <a:xfrm>
            <a:off x="6629400" y="3154680"/>
            <a:ext cx="4526280" cy="45720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Ακριβέστερη Μέτρηση</a:t>
            </a:r>
            <a:endParaRPr lang="en-US" sz="1500" dirty="0"/>
          </a:p>
        </p:txBody>
      </p:sp>
      <p:sp>
        <p:nvSpPr>
          <p:cNvPr id="13" name="Text 11"/>
          <p:cNvSpPr/>
          <p:nvPr/>
        </p:nvSpPr>
        <p:spPr>
          <a:xfrm>
            <a:off x="6629400" y="3703320"/>
            <a:ext cx="4526280" cy="2057400"/>
          </a:xfrm>
          <a:prstGeom prst="rect">
            <a:avLst/>
          </a:prstGeom>
          <a:noFill/>
          <a:ln/>
        </p:spPr>
        <p:txBody>
          <a:bodyPr wrap="square" rtlCol="0" anchor="t"/>
          <a:lstStyle/>
          <a:p>
            <a:pPr algn="l" marL="177800" indent="-177800">
              <a:spcAft>
                <a:spcPts val="1200"/>
              </a:spcAft>
              <a:buSzPct val="100000"/>
              <a:buChar char="▪"/>
            </a:pPr>
            <a:r>
              <a:rPr lang="en-US" sz="1250" dirty="0">
                <a:solidFill>
                  <a:srgbClr val="B9CDE3"/>
                </a:solidFill>
                <a:latin typeface="Calibri" pitchFamily="34" charset="0"/>
                <a:ea typeface="Calibri" pitchFamily="34" charset="-122"/>
                <a:cs typeface="Calibri" pitchFamily="34" charset="-120"/>
              </a:rPr>
              <a:t>Χρήση παλμογράφου για παρακολούθηση μεταβολών τάσης με μεγάλη ακρίβεια σε πραγματικό χρόνο.</a:t>
            </a:r>
            <a:endParaRPr lang="en-US" sz="1250" dirty="0"/>
          </a:p>
          <a:p>
            <a:pPr algn="l" marL="177800" indent="-177800">
              <a:spcAft>
                <a:spcPts val="1200"/>
              </a:spcAft>
              <a:buSzPct val="100000"/>
              <a:buChar char="▪"/>
            </a:pPr>
            <a:r>
              <a:rPr lang="en-US" sz="1250" dirty="0">
                <a:solidFill>
                  <a:srgbClr val="B9CDE3"/>
                </a:solidFill>
                <a:latin typeface="Calibri" pitchFamily="34" charset="0"/>
                <a:ea typeface="Calibri" pitchFamily="34" charset="-122"/>
                <a:cs typeface="Calibri" pitchFamily="34" charset="-120"/>
              </a:rPr>
              <a:t>Διασφάλιση λειτουργίας εντός ασφαλών ορίων, αποφεύγοντας υπερφόρτωση/υπερτάσεις.</a:t>
            </a:r>
            <a:endParaRPr lang="en-US" sz="1250" dirty="0"/>
          </a:p>
        </p:txBody>
      </p:sp>
      <p:sp>
        <p:nvSpPr>
          <p:cNvPr id="14" name="Text 12"/>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15" name="Shape 13"/>
          <p:cNvSpPr/>
          <p:nvPr/>
        </p:nvSpPr>
        <p:spPr>
          <a:xfrm>
            <a:off x="11475720" y="6419088"/>
            <a:ext cx="384048" cy="384048"/>
          </a:xfrm>
          <a:prstGeom prst="ellipse">
            <a:avLst/>
          </a:prstGeom>
          <a:solidFill>
            <a:srgbClr val="FFB020"/>
          </a:solidFill>
          <a:ln/>
        </p:spPr>
      </p:sp>
      <p:sp>
        <p:nvSpPr>
          <p:cNvPr id="16" name="Text 14"/>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16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457200"/>
            <a:ext cx="8229600" cy="320040"/>
          </a:xfrm>
          <a:prstGeom prst="rect">
            <a:avLst/>
          </a:prstGeom>
          <a:noFill/>
          <a:ln/>
        </p:spPr>
        <p:txBody>
          <a:bodyPr wrap="square" rtlCol="0" anchor="ctr"/>
          <a:lstStyle/>
          <a:p>
            <a:pPr indent="0" marL="0">
              <a:buNone/>
            </a:pPr>
            <a:r>
              <a:rPr lang="en-US" sz="1250" b="1" spc="200" kern="0" dirty="0">
                <a:solidFill>
                  <a:srgbClr val="FFB020"/>
                </a:solidFill>
                <a:latin typeface="Calibri" pitchFamily="34" charset="0"/>
                <a:ea typeface="Calibri" pitchFamily="34" charset="-122"/>
                <a:cs typeface="Calibri" pitchFamily="34" charset="-120"/>
              </a:rPr>
              <a:t>ΣΥΜΠΕΡΆΣΜΑΤΑ</a:t>
            </a:r>
            <a:endParaRPr lang="en-US" sz="1250" dirty="0"/>
          </a:p>
        </p:txBody>
      </p:sp>
      <p:sp>
        <p:nvSpPr>
          <p:cNvPr id="3" name="Text 1"/>
          <p:cNvSpPr/>
          <p:nvPr/>
        </p:nvSpPr>
        <p:spPr>
          <a:xfrm>
            <a:off x="640080" y="749808"/>
            <a:ext cx="10881360" cy="77724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Τι έμαθα από τη Διπλωματική Εργασία</a:t>
            </a:r>
            <a:endParaRPr lang="en-US" sz="3000" dirty="0"/>
          </a:p>
        </p:txBody>
      </p:sp>
      <p:sp>
        <p:nvSpPr>
          <p:cNvPr id="4" name="Shape 2"/>
          <p:cNvSpPr/>
          <p:nvPr/>
        </p:nvSpPr>
        <p:spPr>
          <a:xfrm>
            <a:off x="640080" y="1965960"/>
            <a:ext cx="10881360" cy="1874520"/>
          </a:xfrm>
          <a:prstGeom prst="roundRect">
            <a:avLst>
              <a:gd name="adj" fmla="val 5854"/>
            </a:avLst>
          </a:prstGeom>
          <a:solidFill>
            <a:srgbClr val="132B47"/>
          </a:solidFill>
          <a:ln/>
          <a:effectLst>
            <a:outerShdw sx="100000" sy="100000" kx="0" ky="0" algn="bl" rotWithShape="0" blurRad="101600" dist="38100" dir="5400000">
              <a:srgbClr val="000000">
                <a:alpha val="35000"/>
              </a:srgbClr>
            </a:outerShdw>
          </a:effectLst>
        </p:spPr>
      </p:sp>
      <p:sp>
        <p:nvSpPr>
          <p:cNvPr id="5" name="Shape 3"/>
          <p:cNvSpPr/>
          <p:nvPr/>
        </p:nvSpPr>
        <p:spPr>
          <a:xfrm>
            <a:off x="1074420" y="2537460"/>
            <a:ext cx="685800" cy="685800"/>
          </a:xfrm>
          <a:prstGeom prst="ellipse">
            <a:avLst/>
          </a:prstGeom>
          <a:solidFill>
            <a:srgbClr val="FFB020">
              <a:alpha val="20000"/>
            </a:srgbClr>
          </a:solidFill>
          <a:ln w="15875">
            <a:solidFill>
              <a:srgbClr val="FFB020"/>
            </a:solidFill>
            <a:prstDash val="solid"/>
          </a:ln>
        </p:spPr>
      </p:sp>
      <p:sp>
        <p:nvSpPr>
          <p:cNvPr id="6" name="Shape 4"/>
          <p:cNvSpPr/>
          <p:nvPr/>
        </p:nvSpPr>
        <p:spPr>
          <a:xfrm>
            <a:off x="1245870" y="2708910"/>
            <a:ext cx="342900" cy="342900"/>
          </a:xfrm>
          <a:prstGeom prst="sun">
            <a:avLst/>
          </a:prstGeom>
          <a:solidFill>
            <a:srgbClr val="FFB020"/>
          </a:solidFill>
          <a:ln/>
        </p:spPr>
      </p:sp>
      <p:sp>
        <p:nvSpPr>
          <p:cNvPr id="7" name="Text 5"/>
          <p:cNvSpPr/>
          <p:nvPr/>
        </p:nvSpPr>
        <p:spPr>
          <a:xfrm>
            <a:off x="2057400" y="2148840"/>
            <a:ext cx="9189720" cy="1508760"/>
          </a:xfrm>
          <a:prstGeom prst="rect">
            <a:avLst/>
          </a:prstGeom>
          <a:noFill/>
          <a:ln/>
        </p:spPr>
        <p:txBody>
          <a:bodyPr wrap="square" rtlCol="0" anchor="ctr"/>
          <a:lstStyle/>
          <a:p>
            <a:pPr indent="0" marL="0">
              <a:lnSpc>
                <a:spcPts val="1900"/>
              </a:lnSpc>
              <a:buNone/>
            </a:pPr>
            <a:r>
              <a:rPr lang="en-US" sz="1350" dirty="0">
                <a:solidFill>
                  <a:srgbClr val="B9CDE3"/>
                </a:solidFill>
                <a:latin typeface="Calibri" pitchFamily="34" charset="0"/>
                <a:ea typeface="Calibri" pitchFamily="34" charset="-122"/>
                <a:cs typeface="Calibri" pitchFamily="34" charset="-120"/>
              </a:rPr>
              <a:t>Απέκτησα βαθιά γνώση του πρωτοκόλλου USB Power Delivery και της εφαρμογής του στη διαχείριση ενέργειας συστημάτων, και έμαθα να χρησιμοποιώ εργαλεία όπως το STM32CubeMonitor για την παρακολούθηση και επαλήθευση ενεργειακών παραμέτρων.</a:t>
            </a:r>
            <a:endParaRPr lang="en-US" sz="1350" dirty="0"/>
          </a:p>
        </p:txBody>
      </p:sp>
      <p:sp>
        <p:nvSpPr>
          <p:cNvPr id="8" name="Shape 6"/>
          <p:cNvSpPr/>
          <p:nvPr/>
        </p:nvSpPr>
        <p:spPr>
          <a:xfrm>
            <a:off x="640080" y="4023360"/>
            <a:ext cx="10881360" cy="1874520"/>
          </a:xfrm>
          <a:prstGeom prst="roundRect">
            <a:avLst>
              <a:gd name="adj" fmla="val 5854"/>
            </a:avLst>
          </a:prstGeom>
          <a:solidFill>
            <a:srgbClr val="0E2238"/>
          </a:solidFill>
          <a:ln/>
          <a:effectLst>
            <a:outerShdw sx="100000" sy="100000" kx="0" ky="0" algn="bl" rotWithShape="0" blurRad="101600" dist="38100" dir="5400000">
              <a:srgbClr val="000000">
                <a:alpha val="35000"/>
              </a:srgbClr>
            </a:outerShdw>
          </a:effectLst>
        </p:spPr>
      </p:sp>
      <p:sp>
        <p:nvSpPr>
          <p:cNvPr id="9" name="Shape 7"/>
          <p:cNvSpPr/>
          <p:nvPr/>
        </p:nvSpPr>
        <p:spPr>
          <a:xfrm>
            <a:off x="1074420" y="4594860"/>
            <a:ext cx="685800" cy="685800"/>
          </a:xfrm>
          <a:prstGeom prst="ellipse">
            <a:avLst/>
          </a:prstGeom>
          <a:solidFill>
            <a:srgbClr val="39D2C0">
              <a:alpha val="20000"/>
            </a:srgbClr>
          </a:solidFill>
          <a:ln w="15875">
            <a:solidFill>
              <a:srgbClr val="39D2C0"/>
            </a:solidFill>
            <a:prstDash val="solid"/>
          </a:ln>
        </p:spPr>
      </p:sp>
      <p:sp>
        <p:nvSpPr>
          <p:cNvPr id="10" name="Shape 8"/>
          <p:cNvSpPr/>
          <p:nvPr/>
        </p:nvSpPr>
        <p:spPr>
          <a:xfrm>
            <a:off x="1245870" y="4766310"/>
            <a:ext cx="342900" cy="342900"/>
          </a:xfrm>
          <a:prstGeom prst="cube">
            <a:avLst/>
          </a:prstGeom>
          <a:solidFill>
            <a:srgbClr val="39D2C0"/>
          </a:solidFill>
          <a:ln/>
        </p:spPr>
      </p:sp>
      <p:sp>
        <p:nvSpPr>
          <p:cNvPr id="11" name="Text 9"/>
          <p:cNvSpPr/>
          <p:nvPr/>
        </p:nvSpPr>
        <p:spPr>
          <a:xfrm>
            <a:off x="2057400" y="4206240"/>
            <a:ext cx="9189720" cy="1508760"/>
          </a:xfrm>
          <a:prstGeom prst="rect">
            <a:avLst/>
          </a:prstGeom>
          <a:noFill/>
          <a:ln/>
        </p:spPr>
        <p:txBody>
          <a:bodyPr wrap="square" rtlCol="0" anchor="ctr"/>
          <a:lstStyle/>
          <a:p>
            <a:pPr indent="0" marL="0">
              <a:lnSpc>
                <a:spcPts val="1900"/>
              </a:lnSpc>
              <a:buNone/>
            </a:pPr>
            <a:r>
              <a:rPr lang="en-US" sz="1350" dirty="0">
                <a:solidFill>
                  <a:srgbClr val="B9CDE3"/>
                </a:solidFill>
                <a:latin typeface="Calibri" pitchFamily="34" charset="0"/>
                <a:ea typeface="Calibri" pitchFamily="34" charset="-122"/>
                <a:cs typeface="Calibri" pitchFamily="34" charset="-120"/>
              </a:rPr>
              <a:t>Η ανάπτυξη σε C με Platform.io μου έδωσε πρακτική εμπειρία στην προγραμματιστική διαχείριση μικροελεγκτών. Η εργασία αποτέλεσε εξαιρετική εισαγωγή στα embedded συστήματα, στην ενσωμάτωση υλικού/λογισμικού και σε τεχνικές επίλυσης προβλημάτων.</a:t>
            </a:r>
            <a:endParaRPr lang="en-US" sz="1350" dirty="0"/>
          </a:p>
        </p:txBody>
      </p:sp>
      <p:sp>
        <p:nvSpPr>
          <p:cNvPr id="12" name="Text 10"/>
          <p:cNvSpPr/>
          <p:nvPr/>
        </p:nvSpPr>
        <p:spPr>
          <a:xfrm>
            <a:off x="457200" y="6528816"/>
            <a:ext cx="5486400" cy="274320"/>
          </a:xfrm>
          <a:prstGeom prst="rect">
            <a:avLst/>
          </a:prstGeom>
          <a:noFill/>
          <a:ln/>
        </p:spPr>
        <p:txBody>
          <a:bodyPr wrap="square" rtlCol="0" anchor="ctr"/>
          <a:lstStyle/>
          <a:p>
            <a:pPr algn="l" indent="0" marL="0">
              <a:buNone/>
            </a:pPr>
            <a:r>
              <a:rPr lang="en-US" sz="900" dirty="0">
                <a:solidFill>
                  <a:srgbClr val="84A0C0"/>
                </a:solidFill>
                <a:latin typeface="Calibri" pitchFamily="34" charset="0"/>
                <a:ea typeface="Calibri" pitchFamily="34" charset="-122"/>
                <a:cs typeface="Calibri" pitchFamily="34" charset="-120"/>
              </a:rPr>
              <a:t>USB Power Delivery · STM32</a:t>
            </a:r>
            <a:endParaRPr lang="en-US" sz="900" dirty="0"/>
          </a:p>
        </p:txBody>
      </p:sp>
      <p:sp>
        <p:nvSpPr>
          <p:cNvPr id="13" name="Shape 11"/>
          <p:cNvSpPr/>
          <p:nvPr/>
        </p:nvSpPr>
        <p:spPr>
          <a:xfrm>
            <a:off x="11475720" y="6419088"/>
            <a:ext cx="384048" cy="384048"/>
          </a:xfrm>
          <a:prstGeom prst="ellipse">
            <a:avLst/>
          </a:prstGeom>
          <a:solidFill>
            <a:srgbClr val="FFB020"/>
          </a:solidFill>
          <a:ln/>
        </p:spPr>
      </p:sp>
      <p:sp>
        <p:nvSpPr>
          <p:cNvPr id="14" name="Text 12"/>
          <p:cNvSpPr/>
          <p:nvPr/>
        </p:nvSpPr>
        <p:spPr>
          <a:xfrm>
            <a:off x="11475720" y="6419088"/>
            <a:ext cx="384048" cy="384048"/>
          </a:xfrm>
          <a:prstGeom prst="rect">
            <a:avLst/>
          </a:prstGeom>
          <a:noFill/>
          <a:ln/>
        </p:spPr>
        <p:txBody>
          <a:bodyPr wrap="square" rtlCol="0" anchor="ctr"/>
          <a:lstStyle/>
          <a:p>
            <a:pPr algn="ctr" indent="0" marL="0">
              <a:buNone/>
            </a:pPr>
            <a:r>
              <a:rPr lang="en-US" sz="1200" b="1" dirty="0">
                <a:solidFill>
                  <a:srgbClr val="1A1200"/>
                </a:solidFill>
                <a:latin typeface="Calibri" pitchFamily="34" charset="0"/>
                <a:ea typeface="Calibri" pitchFamily="34" charset="-122"/>
                <a:cs typeface="Calibri" pitchFamily="34" charset="-120"/>
              </a:rPr>
              <a:t>17</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1645920" y="3840480"/>
            <a:ext cx="5029200" cy="5029200"/>
          </a:xfrm>
          <a:prstGeom prst="ellipse">
            <a:avLst/>
          </a:prstGeom>
          <a:ln w="19050">
            <a:solidFill>
              <a:srgbClr val="FFB020">
                <a:alpha val="30000"/>
              </a:srgbClr>
            </a:solidFill>
            <a:prstDash val="solid"/>
          </a:ln>
        </p:spPr>
      </p:sp>
      <p:sp>
        <p:nvSpPr>
          <p:cNvPr id="3" name="Shape 1"/>
          <p:cNvSpPr/>
          <p:nvPr/>
        </p:nvSpPr>
        <p:spPr>
          <a:xfrm>
            <a:off x="-822960" y="4663440"/>
            <a:ext cx="3291840" cy="3291840"/>
          </a:xfrm>
          <a:prstGeom prst="ellipse">
            <a:avLst/>
          </a:prstGeom>
          <a:ln w="19050">
            <a:solidFill>
              <a:srgbClr val="39D2C0">
                <a:alpha val="30000"/>
              </a:srgbClr>
            </a:solidFill>
            <a:prstDash val="solid"/>
          </a:ln>
        </p:spPr>
      </p:sp>
      <p:sp>
        <p:nvSpPr>
          <p:cNvPr id="4" name="Shape 2"/>
          <p:cNvSpPr/>
          <p:nvPr/>
        </p:nvSpPr>
        <p:spPr>
          <a:xfrm>
            <a:off x="1508760" y="4800600"/>
            <a:ext cx="822960" cy="822960"/>
          </a:xfrm>
          <a:prstGeom prst="ellipse">
            <a:avLst/>
          </a:prstGeom>
          <a:solidFill>
            <a:srgbClr val="FFB020">
              <a:alpha val="20000"/>
            </a:srgbClr>
          </a:solidFill>
          <a:ln w="15875">
            <a:solidFill>
              <a:srgbClr val="FFB020"/>
            </a:solidFill>
            <a:prstDash val="solid"/>
          </a:ln>
        </p:spPr>
      </p:sp>
      <p:sp>
        <p:nvSpPr>
          <p:cNvPr id="5" name="Shape 3"/>
          <p:cNvSpPr/>
          <p:nvPr/>
        </p:nvSpPr>
        <p:spPr>
          <a:xfrm>
            <a:off x="1714500" y="5006340"/>
            <a:ext cx="411480" cy="411480"/>
          </a:xfrm>
          <a:prstGeom prst="lightningBolt">
            <a:avLst/>
          </a:prstGeom>
          <a:solidFill>
            <a:srgbClr val="FFB020"/>
          </a:solidFill>
          <a:ln/>
        </p:spPr>
      </p:sp>
      <p:sp>
        <p:nvSpPr>
          <p:cNvPr id="6" name="Text 4"/>
          <p:cNvSpPr/>
          <p:nvPr/>
        </p:nvSpPr>
        <p:spPr>
          <a:xfrm>
            <a:off x="914400" y="2651760"/>
            <a:ext cx="10332720" cy="1828800"/>
          </a:xfrm>
          <a:prstGeom prst="rect">
            <a:avLst/>
          </a:prstGeom>
          <a:noFill/>
          <a:ln/>
        </p:spPr>
        <p:txBody>
          <a:bodyPr wrap="square" rtlCol="0" anchor="ctr"/>
          <a:lstStyle/>
          <a:p>
            <a:pPr algn="ctr" indent="0" marL="0">
              <a:lnSpc>
                <a:spcPts val="4000"/>
              </a:lnSpc>
              <a:buNone/>
            </a:pPr>
            <a:r>
              <a:rPr lang="en-US" sz="3200" b="1" dirty="0">
                <a:solidFill>
                  <a:srgbClr val="FFFFFF"/>
                </a:solidFill>
                <a:latin typeface="Cambria" pitchFamily="34" charset="0"/>
                <a:ea typeface="Cambria" pitchFamily="34" charset="-122"/>
                <a:cs typeface="Cambria" pitchFamily="34" charset="-120"/>
              </a:rPr>
              <a:t>Σας ευχαριστώ πολύ</a:t>
            </a:r>
            <a:endParaRPr lang="en-US" sz="3200" dirty="0"/>
          </a:p>
          <a:p>
            <a:pPr algn="ctr" indent="0" marL="0">
              <a:lnSpc>
                <a:spcPts val="4000"/>
              </a:lnSpc>
              <a:buNone/>
            </a:pPr>
            <a:r>
              <a:rPr lang="en-US" sz="3200" b="1" dirty="0">
                <a:solidFill>
                  <a:srgbClr val="FFFFFF"/>
                </a:solidFill>
                <a:latin typeface="Cambria" pitchFamily="34" charset="0"/>
                <a:ea typeface="Cambria" pitchFamily="34" charset="-122"/>
                <a:cs typeface="Cambria" pitchFamily="34" charset="-120"/>
              </a:rPr>
              <a:t>για τον χρόνο και την προσοχή σας!</a:t>
            </a:r>
            <a:endParaRPr lang="en-US" sz="3200" dirty="0"/>
          </a:p>
        </p:txBody>
      </p:sp>
      <p:sp>
        <p:nvSpPr>
          <p:cNvPr id="7" name="Text 5"/>
          <p:cNvSpPr/>
          <p:nvPr/>
        </p:nvSpPr>
        <p:spPr>
          <a:xfrm>
            <a:off x="914400" y="4572000"/>
            <a:ext cx="10332720" cy="365760"/>
          </a:xfrm>
          <a:prstGeom prst="rect">
            <a:avLst/>
          </a:prstGeom>
          <a:noFill/>
          <a:ln/>
        </p:spPr>
        <p:txBody>
          <a:bodyPr wrap="square" rtlCol="0" anchor="ctr"/>
          <a:lstStyle/>
          <a:p>
            <a:pPr algn="ctr" indent="0" marL="0">
              <a:buNone/>
            </a:pPr>
            <a:r>
              <a:rPr lang="en-US" sz="1300" spc="200" kern="0" dirty="0">
                <a:solidFill>
                  <a:srgbClr val="FFB020"/>
                </a:solidFill>
                <a:latin typeface="Calibri" pitchFamily="34" charset="0"/>
                <a:ea typeface="Calibri" pitchFamily="34" charset="-122"/>
                <a:cs typeface="Calibri" pitchFamily="34" charset="-120"/>
              </a:rPr>
              <a:t>USB Power Delivery · STM32G474RE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2026-09-16T14:28:59Z</dcterms:created>
  <dcterms:modified xsi:type="dcterms:W3CDTF">2026-09-16T14:28:59Z</dcterms:modified>
</cp:coreProperties>
</file>