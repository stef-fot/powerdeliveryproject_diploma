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A19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ln w="19050">
            <a:solidFill>
              <a:srgbClr val="FFB02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-640080"/>
            <a:ext cx="3291840" cy="3291840"/>
          </a:xfrm>
          <a:prstGeom prst="ellipse">
            <a:avLst/>
          </a:prstGeom>
          <a:ln w="19050">
            <a:solidFill>
              <a:srgbClr val="39D2C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69880" y="1920240"/>
            <a:ext cx="822960" cy="822960"/>
          </a:xfrm>
          <a:prstGeom prst="ellipse">
            <a:avLst/>
          </a:prstGeom>
          <a:solidFill>
            <a:srgbClr val="FFB020">
              <a:alpha val="20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75620" y="2125980"/>
            <a:ext cx="411480" cy="411480"/>
          </a:xfrm>
          <a:prstGeom prst="lightningBolt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37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 THESIS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98755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Study of the USB Power Delivery Protocol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the STM32 Microcontroller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749808" y="4343400"/>
            <a:ext cx="2011680" cy="0"/>
          </a:xfrm>
          <a:prstGeom prst="line">
            <a:avLst/>
          </a:prstGeom>
          <a:noFill/>
          <a:ln w="31750">
            <a:solidFill>
              <a:srgbClr val="FFB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4617720"/>
            <a:ext cx="7863840" cy="1417320"/>
          </a:xfrm>
          <a:prstGeom prst="roundRect">
            <a:avLst>
              <a:gd name="adj" fmla="val 7742"/>
            </a:avLst>
          </a:prstGeom>
          <a:solidFill>
            <a:srgbClr val="132B47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47731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Fotopoulos Stefanos   </a:t>
            </a:r>
            <a:pPr indent="0" marL="0">
              <a:buNone/>
            </a:pPr>
            <a:r>
              <a:rPr lang="en-US" sz="130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Student ID: 4829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513892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2024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05840" y="5486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Supervising Professor: Efthymiou Aristeidis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USB Power Delivery?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(USB-PD) extends the power capabilities of the USB 2.0 and 3.1 standards, enabling smart, flexible power delivery over a single cable.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2926080"/>
            <a:ext cx="731520" cy="731520"/>
          </a:xfrm>
          <a:prstGeom prst="ellipse">
            <a:avLst/>
          </a:prstGeom>
          <a:solidFill>
            <a:srgbClr val="FFB020">
              <a:alpha val="20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83080" y="3108960"/>
            <a:ext cx="365760" cy="365760"/>
          </a:xfrm>
          <a:prstGeom prst="lightningBolt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Type-C™ connector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2194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up to 100W of power through one single, reversible connector.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20440" y="26060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80560" y="2926080"/>
            <a:ext cx="731520" cy="731520"/>
          </a:xfrm>
          <a:prstGeom prst="ellipse">
            <a:avLst/>
          </a:prstGeom>
          <a:solidFill>
            <a:srgbClr val="39D2C0">
              <a:alpha val="20000"/>
            </a:srgbClr>
          </a:solidFill>
          <a:ln w="15875">
            <a:solidFill>
              <a:srgbClr val="39D2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3108960"/>
            <a:ext cx="365760" cy="365760"/>
          </a:xfrm>
          <a:prstGeom prst="cloud">
            <a:avLst/>
          </a:prstGeom>
          <a:solidFill>
            <a:srgbClr val="39D2C0"/>
          </a:solidFill>
          <a:ln/>
        </p:spPr>
      </p:sp>
      <p:sp>
        <p:nvSpPr>
          <p:cNvPr id="13" name="Text 11"/>
          <p:cNvSpPr/>
          <p:nvPr/>
        </p:nvSpPr>
        <p:spPr>
          <a:xfrm>
            <a:off x="370332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 compatibility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749040" y="4480560"/>
            <a:ext cx="2194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laptops, monitors and fast-charging devices alike.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0" y="26060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60920" y="2926080"/>
            <a:ext cx="731520" cy="731520"/>
          </a:xfrm>
          <a:prstGeom prst="ellipse">
            <a:avLst/>
          </a:prstGeom>
          <a:solidFill>
            <a:srgbClr val="FFB020">
              <a:alpha val="20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543800" y="3108960"/>
            <a:ext cx="365760" cy="365760"/>
          </a:xfrm>
          <a:prstGeom prst="circularArrow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negotiation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629400" y="4480560"/>
            <a:ext cx="2194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voltage and current are determined dynamically between devices.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281160" y="260604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41280" y="2926080"/>
            <a:ext cx="731520" cy="731520"/>
          </a:xfrm>
          <a:prstGeom prst="ellipse">
            <a:avLst/>
          </a:prstGeom>
          <a:solidFill>
            <a:srgbClr val="39D2C0">
              <a:alpha val="20000"/>
            </a:srgbClr>
          </a:solidFill>
          <a:ln w="15875">
            <a:solidFill>
              <a:srgbClr val="39D2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424160" y="3108960"/>
            <a:ext cx="365760" cy="365760"/>
          </a:xfrm>
          <a:prstGeom prst="cloudCallout">
            <a:avLst/>
          </a:prstGeom>
          <a:solidFill>
            <a:srgbClr val="39D2C0"/>
          </a:solidFill>
          <a:ln/>
        </p:spPr>
      </p:sp>
      <p:sp>
        <p:nvSpPr>
          <p:cNvPr id="23" name="Text 21"/>
          <p:cNvSpPr/>
          <p:nvPr/>
        </p:nvSpPr>
        <p:spPr>
          <a:xfrm>
            <a:off x="9464040" y="38404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Bidirectional communication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509760" y="4480560"/>
            <a:ext cx="21945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USB-PD communication takes place between two connected devices.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7" name="Text 25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USB-PD PROTOCOL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Data Objects (PDO)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PDOs are USB-PD data structures that define the power capabilities of a source device, ensuring safe power delivery between connected Type-C devices.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5257800" cy="3429000"/>
          </a:xfrm>
          <a:prstGeom prst="roundRect">
            <a:avLst>
              <a:gd name="adj" fmla="val 3200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82980" y="2811780"/>
            <a:ext cx="594360" cy="594360"/>
          </a:xfrm>
          <a:prstGeom prst="ellipse">
            <a:avLst/>
          </a:prstGeom>
          <a:solidFill>
            <a:srgbClr val="FFB020">
              <a:alpha val="20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1570" y="2960370"/>
            <a:ext cx="297180" cy="297180"/>
          </a:xfrm>
          <a:prstGeom prst="chevron">
            <a:avLst/>
          </a:prstGeom>
          <a:solidFill>
            <a:srgbClr val="FFB020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280720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Supply PDO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3657600"/>
            <a:ext cx="4526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fixed voltage levels offered by the source device.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voltages on our microcontroller: 5V, 9V, 12V.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range is set by the manufacturer, close to 3A.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2514600"/>
            <a:ext cx="5257800" cy="3429000"/>
          </a:xfrm>
          <a:prstGeom prst="roundRect">
            <a:avLst>
              <a:gd name="adj" fmla="val 3200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06540" y="2811780"/>
            <a:ext cx="594360" cy="594360"/>
          </a:xfrm>
          <a:prstGeom prst="ellipse">
            <a:avLst/>
          </a:prstGeom>
          <a:solidFill>
            <a:srgbClr val="39D2C0">
              <a:alpha val="20000"/>
            </a:srgbClr>
          </a:solidFill>
          <a:ln w="15875">
            <a:solidFill>
              <a:srgbClr val="39D2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55130" y="2960370"/>
            <a:ext cx="297180" cy="297180"/>
          </a:xfrm>
          <a:prstGeom prst="swooshArrow">
            <a:avLst/>
          </a:prstGeom>
          <a:solidFill>
            <a:srgbClr val="39D2C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0" y="2807208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APDO (Adjustable PDO)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29400" y="3657600"/>
            <a:ext cx="4526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dynamic adjustment of output voltage and current.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range: 3.3V to 11V.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 current: from 0A to 3A.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USB-PD PROTOCOL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Request Data Objects (RDO)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RDOs specify the power parameters requested by a sink device from a source device, and are essential to negotiating the power contract.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1540" y="2857500"/>
            <a:ext cx="502920" cy="5029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891540" y="28575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PDO selection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68680" y="416052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suitable SRC PDO is chosen, the SNK device builds the corresponding RDO.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260604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771900" y="2857500"/>
            <a:ext cx="502920" cy="502920"/>
          </a:xfrm>
          <a:prstGeom prst="ellipse">
            <a:avLst/>
          </a:prstGeom>
          <a:solidFill>
            <a:srgbClr val="39D2C0"/>
          </a:solidFill>
          <a:ln/>
        </p:spPr>
      </p:sp>
      <p:sp>
        <p:nvSpPr>
          <p:cNvPr id="12" name="Text 10"/>
          <p:cNvSpPr/>
          <p:nvPr/>
        </p:nvSpPr>
        <p:spPr>
          <a:xfrm>
            <a:off x="3771900" y="28575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74904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RDO fields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749040" y="416052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of the selected SRC PDO, operating current and maximum operating current.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60604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52260" y="2857500"/>
            <a:ext cx="502920" cy="50292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6652260" y="28575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2940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evaluation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29400" y="416052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source device evaluates whether it can meet the request and adjusts accordingly.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281160" y="260604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532620" y="2857500"/>
            <a:ext cx="502920" cy="502920"/>
          </a:xfrm>
          <a:prstGeom prst="ellipse">
            <a:avLst/>
          </a:prstGeom>
          <a:solidFill>
            <a:srgbClr val="39D2C0"/>
          </a:solidFill>
          <a:ln/>
        </p:spPr>
      </p:sp>
      <p:sp>
        <p:nvSpPr>
          <p:cNvPr id="22" name="Text 20"/>
          <p:cNvSpPr/>
          <p:nvPr/>
        </p:nvSpPr>
        <p:spPr>
          <a:xfrm>
            <a:off x="9532620" y="28575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509760" y="3611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default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509760" y="416052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 matching PDO is found, the default 5V PDO is automatically selected.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7" name="Text 25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of Dual Role Technology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Role technology allows both power and data to be transmitted bidirectionally. The power role (sink ↔ source) and the data role (device ↔ host) can switch depending on the use case, under control of the USB-PD protocol.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309360" y="1463040"/>
            <a:ext cx="525780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build/img/image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554480"/>
            <a:ext cx="5074920" cy="2148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0" y="3749040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cable, bidirectional power supply between devices.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48640" y="4251960"/>
            <a:ext cx="530352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home/claude/build/img/image6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4343400"/>
            <a:ext cx="5120640" cy="18745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0080" y="6272784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common adapter can power multiple devices.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6400800" y="4343400"/>
            <a:ext cx="5074920" cy="1874520"/>
          </a:xfrm>
          <a:prstGeom prst="roundRect">
            <a:avLst>
              <a:gd name="adj" fmla="val 5854"/>
            </a:avLst>
          </a:prstGeom>
          <a:solidFill>
            <a:srgbClr val="0E2238"/>
          </a:solidFill>
          <a:ln/>
        </p:spPr>
      </p:sp>
      <p:sp>
        <p:nvSpPr>
          <p:cNvPr id="12" name="Shape 8"/>
          <p:cNvSpPr/>
          <p:nvPr/>
        </p:nvSpPr>
        <p:spPr>
          <a:xfrm>
            <a:off x="6789420" y="4732020"/>
            <a:ext cx="594360" cy="594360"/>
          </a:xfrm>
          <a:prstGeom prst="ellipse">
            <a:avLst/>
          </a:prstGeom>
          <a:solidFill>
            <a:srgbClr val="FFB020">
              <a:alpha val="20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938010" y="4880610"/>
            <a:ext cx="297180" cy="297180"/>
          </a:xfrm>
          <a:prstGeom prst="circularArrow">
            <a:avLst/>
          </a:prstGeom>
          <a:solidFill>
            <a:srgbClr val="FFB020"/>
          </a:solidFill>
          <a:ln/>
        </p:spPr>
      </p:sp>
      <p:sp>
        <p:nvSpPr>
          <p:cNvPr id="14" name="Text 10"/>
          <p:cNvSpPr/>
          <p:nvPr/>
        </p:nvSpPr>
        <p:spPr>
          <a:xfrm>
            <a:off x="7589520" y="4572000"/>
            <a:ext cx="3657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Sink ↔ Source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↔ Host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675120" y="55321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is fully controlled by the USB-PD protocol.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4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STM32G474RE Microcontroller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JP1 connector on the buck-boost converter board selects the VIN voltage source.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3931920" cy="443484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build/img/image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2148840"/>
            <a:ext cx="3749040" cy="4251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20640" y="2286000"/>
            <a:ext cx="6309360" cy="1645920"/>
          </a:xfrm>
          <a:prstGeom prst="roundRect">
            <a:avLst>
              <a:gd name="adj" fmla="val 6667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394960" y="256032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9" name="Text 6"/>
          <p:cNvSpPr/>
          <p:nvPr/>
        </p:nvSpPr>
        <p:spPr>
          <a:xfrm>
            <a:off x="539496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989320" y="245059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Default setting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5989320" y="2907792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JP1 selects power from the USBPD_VBUS charger (default 5V) via Type-C.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120640" y="4160520"/>
            <a:ext cx="6309360" cy="1645920"/>
          </a:xfrm>
          <a:prstGeom prst="roundRect">
            <a:avLst>
              <a:gd name="adj" fmla="val 6667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94960" y="443484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1"/>
          <p:cNvSpPr/>
          <p:nvPr/>
        </p:nvSpPr>
        <p:spPr>
          <a:xfrm>
            <a:off x="5394960" y="4434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5989320" y="4325112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Alternative source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5989320" y="4782312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 external supply, connect it to JP1's VIN/GND pins and remove the jumper.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9" name="Text 16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STM32G474RE Microcontroller Architecture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user-interaction components on the B-G474E-DPOW1 Discovery kit board.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7406640" cy="333756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build/img/image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194560"/>
            <a:ext cx="7223760" cy="3154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2194560"/>
            <a:ext cx="3337560" cy="1508760"/>
          </a:xfrm>
          <a:prstGeom prst="roundRect">
            <a:avLst>
              <a:gd name="adj" fmla="val 7273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35340" y="2491740"/>
            <a:ext cx="594360" cy="594360"/>
          </a:xfrm>
          <a:prstGeom prst="ellipse">
            <a:avLst/>
          </a:prstGeom>
          <a:solidFill>
            <a:srgbClr val="FFB020">
              <a:alpha val="20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583930" y="2640330"/>
            <a:ext cx="297180" cy="297180"/>
          </a:xfrm>
          <a:prstGeom prst="donut">
            <a:avLst/>
          </a:prstGeom>
          <a:solidFill>
            <a:srgbClr val="FFB020"/>
          </a:solidFill>
          <a:ln/>
        </p:spPr>
      </p:sp>
      <p:sp>
        <p:nvSpPr>
          <p:cNvPr id="10" name="Text 7"/>
          <p:cNvSpPr/>
          <p:nvPr/>
        </p:nvSpPr>
        <p:spPr>
          <a:xfrm>
            <a:off x="9189720" y="233172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B2 Joystick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89720" y="2724912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four-direction joystick with a select button, used for voltage selection.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8183880" y="3840480"/>
            <a:ext cx="3337560" cy="1508760"/>
          </a:xfrm>
          <a:prstGeom prst="roundRect">
            <a:avLst>
              <a:gd name="adj" fmla="val 7273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435340" y="4137660"/>
            <a:ext cx="594360" cy="594360"/>
          </a:xfrm>
          <a:prstGeom prst="ellipse">
            <a:avLst/>
          </a:prstGeom>
          <a:solidFill>
            <a:srgbClr val="39D2C0">
              <a:alpha val="20000"/>
            </a:srgbClr>
          </a:solidFill>
          <a:ln w="15875">
            <a:solidFill>
              <a:srgbClr val="39D2C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583930" y="4286250"/>
            <a:ext cx="297180" cy="297180"/>
          </a:xfrm>
          <a:prstGeom prst="star5">
            <a:avLst/>
          </a:prstGeom>
          <a:solidFill>
            <a:srgbClr val="39D2C0"/>
          </a:solidFill>
          <a:ln/>
        </p:spPr>
      </p:sp>
      <p:sp>
        <p:nvSpPr>
          <p:cNvPr id="15" name="Text 12"/>
          <p:cNvSpPr/>
          <p:nvPr/>
        </p:nvSpPr>
        <p:spPr>
          <a:xfrm>
            <a:off x="9189720" y="39776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User LEDs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89720" y="4370832"/>
            <a:ext cx="2148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indicator LEDs, programmable according to the application's needs.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9" name="Text 16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STM32CubeMonitor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microcontrollers, traces refer to the logs of signals or events monitored during system operation.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74980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/home/claude/build/img/image1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2286000"/>
            <a:ext cx="7315200" cy="41605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183880" y="228600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412480" y="2743200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0" y="242316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3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help with analysis and fault/bug detection.</a:t>
            </a:r>
            <a:endParaRPr lang="en-US" sz="1130" dirty="0"/>
          </a:p>
        </p:txBody>
      </p:sp>
      <p:sp>
        <p:nvSpPr>
          <p:cNvPr id="10" name="Shape 7"/>
          <p:cNvSpPr/>
          <p:nvPr/>
        </p:nvSpPr>
        <p:spPr>
          <a:xfrm>
            <a:off x="8183880" y="370332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2480" y="4160520"/>
            <a:ext cx="128016" cy="128016"/>
          </a:xfrm>
          <a:prstGeom prst="ellipse">
            <a:avLst/>
          </a:prstGeom>
          <a:solidFill>
            <a:srgbClr val="39D2C0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0" y="384048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3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provide insight into the sequence of commands and communication between peripherals.</a:t>
            </a:r>
            <a:endParaRPr lang="en-US" sz="1130" dirty="0"/>
          </a:p>
        </p:txBody>
      </p:sp>
      <p:sp>
        <p:nvSpPr>
          <p:cNvPr id="13" name="Shape 10"/>
          <p:cNvSpPr/>
          <p:nvPr/>
        </p:nvSpPr>
        <p:spPr>
          <a:xfrm>
            <a:off x="8183880" y="512064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412480" y="5577840"/>
            <a:ext cx="128016" cy="128016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0" y="5257800"/>
            <a:ext cx="2606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13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shows a sequence of traces with messages from a USB Power Delivery system.</a:t>
            </a:r>
            <a:endParaRPr lang="en-US" sz="1130" dirty="0"/>
          </a:p>
        </p:txBody>
      </p:sp>
      <p:sp>
        <p:nvSpPr>
          <p:cNvPr id="16" name="Text 13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5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 Function Flow Diagram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main() function in main.c contains the initialization calls for all of the microcontroller's peripherals, before entering an infinite control loop.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B3A5C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46888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99923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Initialization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40156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HAL, peripherals and the system clock.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971800" y="3342132"/>
            <a:ext cx="365760" cy="219456"/>
          </a:xfrm>
          <a:prstGeom prst="rightArrow">
            <a:avLst/>
          </a:prstGeom>
          <a:solidFill>
            <a:srgbClr val="FFB020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2743200"/>
            <a:ext cx="2331720" cy="1417320"/>
          </a:xfrm>
          <a:prstGeom prst="diamond">
            <a:avLst/>
          </a:prstGeom>
          <a:solidFill>
            <a:srgbClr val="0E2238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46888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74720" y="299923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for() loop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20440" y="340156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into an infinite loop where the core functions run.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5669280" y="3342132"/>
            <a:ext cx="365760" cy="219456"/>
          </a:xfrm>
          <a:prstGeom prst="rightArrow">
            <a:avLst/>
          </a:prstGeom>
          <a:solidFill>
            <a:srgbClr val="FFB020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274320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1B3A5C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246888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172200" y="299923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Buttons()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0" y="340156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which button was pressed; calls the matching voltage/LED function.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8366760" y="3342132"/>
            <a:ext cx="365760" cy="219456"/>
          </a:xfrm>
          <a:prstGeom prst="rightArrow">
            <a:avLst/>
          </a:prstGeom>
          <a:solidFill>
            <a:srgbClr val="FFB020"/>
          </a:solidFill>
          <a:ln/>
        </p:spPr>
      </p:sp>
      <p:sp>
        <p:nvSpPr>
          <p:cNvPr id="23" name="Shape 21"/>
          <p:cNvSpPr/>
          <p:nvPr/>
        </p:nvSpPr>
        <p:spPr>
          <a:xfrm>
            <a:off x="8732520" y="2743200"/>
            <a:ext cx="2331720" cy="1417320"/>
          </a:xfrm>
          <a:prstGeom prst="roundRect">
            <a:avLst>
              <a:gd name="adj" fmla="val 6452"/>
            </a:avLst>
          </a:prstGeom>
          <a:solidFill>
            <a:srgbClr val="0E2238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2468880"/>
            <a:ext cx="457200" cy="45720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5" name="Text 23"/>
          <p:cNvSpPr/>
          <p:nvPr/>
        </p:nvSpPr>
        <p:spPr>
          <a:xfrm>
            <a:off x="8869680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869680" y="2999232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1ms delay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915400" y="3401568"/>
            <a:ext cx="1965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150"/>
              </a:lnSpc>
              <a:buNone/>
            </a:pPr>
            <a:r>
              <a:rPr lang="en-US" sz="93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delay is introduced before the next check iteration.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 flipV="1">
            <a:off x="3337560" y="4297680"/>
            <a:ext cx="5394960" cy="822960"/>
          </a:xfrm>
          <a:prstGeom prst="bentConnector3">
            <a:avLst/>
          </a:prstGeom>
          <a:noFill/>
          <a:ln w="19050">
            <a:solidFill>
              <a:srgbClr val="39D2C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3337560" y="502920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back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2" name="Text 30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2980" y="2125980"/>
            <a:ext cx="685800" cy="685800"/>
          </a:xfrm>
          <a:prstGeom prst="ellipse">
            <a:avLst/>
          </a:prstGeom>
          <a:solidFill>
            <a:srgbClr val="FFB020">
              <a:alpha val="20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430" y="2297430"/>
            <a:ext cx="342900" cy="342900"/>
          </a:xfrm>
          <a:prstGeom prst="gear6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154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MX_GPIO_Init()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05840" y="3657600"/>
            <a:ext cx="4526280" cy="0"/>
          </a:xfrm>
          <a:prstGeom prst="line">
            <a:avLst/>
          </a:prstGeom>
          <a:noFill/>
          <a:ln w="12700">
            <a:solidFill>
              <a:srgbClr val="FFB020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840480"/>
            <a:ext cx="45262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Initializes the GPIO pins for the joystick buttons and LEDs, with the help of STM32CubeIDE, which maps each pin to the correct component on the microcontroller.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06540" y="2125980"/>
            <a:ext cx="685800" cy="685800"/>
          </a:xfrm>
          <a:prstGeom prst="ellipse">
            <a:avLst/>
          </a:prstGeom>
          <a:solidFill>
            <a:srgbClr val="39D2C0">
              <a:alpha val="20000"/>
            </a:srgbClr>
          </a:solidFill>
          <a:ln w="15875">
            <a:solidFill>
              <a:srgbClr val="39D2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77990" y="2297430"/>
            <a:ext cx="342900" cy="342900"/>
          </a:xfrm>
          <a:prstGeom prst="flowChartOr">
            <a:avLst/>
          </a:prstGeom>
          <a:solidFill>
            <a:srgbClr val="39D2C0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3154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Semaphore Creation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629400" y="3657600"/>
            <a:ext cx="4526280" cy="0"/>
          </a:xfrm>
          <a:prstGeom prst="line">
            <a:avLst/>
          </a:prstGeom>
          <a:noFill/>
          <a:ln w="12700">
            <a:solidFill>
              <a:srgbClr val="39D2C0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3840480"/>
            <a:ext cx="4526280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semaphore is used for each button so the critical action sequence runs exactly once per press, preventing concurrent execution and race conditions.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Programming Analysis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2788920"/>
          </a:xfrm>
          <a:prstGeom prst="roundRect">
            <a:avLst>
              <a:gd name="adj" fmla="val 3934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FFB020">
              <a:alpha val="20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51560" y="2148840"/>
            <a:ext cx="274320" cy="274320"/>
          </a:xfrm>
          <a:prstGeom prst="chevron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002536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USBPD_DPM_SNK_EvaluateCapabilitiesPDO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60120" y="2743200"/>
            <a:ext cx="4617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3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the USB-PD sink's capabilities by examining the source's data, and prepares the RDO with the sink's power requirements.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2788920"/>
          </a:xfrm>
          <a:prstGeom prst="roundRect">
            <a:avLst>
              <a:gd name="adj" fmla="val 3934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2011680"/>
            <a:ext cx="548640" cy="548640"/>
          </a:xfrm>
          <a:prstGeom prst="ellipse">
            <a:avLst/>
          </a:prstGeom>
          <a:solidFill>
            <a:srgbClr val="39D2C0">
              <a:alpha val="20000"/>
            </a:srgbClr>
          </a:solidFill>
          <a:ln w="15875">
            <a:solidFill>
              <a:srgbClr val="39D2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0" y="2148840"/>
            <a:ext cx="274320" cy="274320"/>
          </a:xfrm>
          <a:prstGeom prst="swooshArrow">
            <a:avLst/>
          </a:prstGeom>
          <a:solidFill>
            <a:srgbClr val="39D2C0"/>
          </a:solidFill>
          <a:ln/>
        </p:spPr>
      </p:sp>
      <p:sp>
        <p:nvSpPr>
          <p:cNvPr id="12" name="Text 10"/>
          <p:cNvSpPr/>
          <p:nvPr/>
        </p:nvSpPr>
        <p:spPr>
          <a:xfrm>
            <a:off x="7178040" y="2002536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USBPD_PE_Send_Request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4617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3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the prepared RDO to the source, communicating the desired power change.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10881360" cy="1051560"/>
          </a:xfrm>
          <a:prstGeom prst="roundRect">
            <a:avLst>
              <a:gd name="adj" fmla="val 10435"/>
            </a:avLst>
          </a:prstGeom>
          <a:solidFill>
            <a:srgbClr val="0E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60120" y="498348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these two functions enable safe and effective management of power transfer between source and sink.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8" name="Text 16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Diploma Thesis Procedure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783080"/>
          </a:xfrm>
          <a:prstGeom prst="roundRect">
            <a:avLst>
              <a:gd name="adj" fmla="val 6154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965960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1947672"/>
            <a:ext cx="9509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0 — Connection &amp; Check via Monitor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737360" y="2377440"/>
            <a:ext cx="9509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connecting to the charger and the computer, the port is selected ("Select Tracer Port", COM3). Disconnecting/reconnecting the USB-C cable and the "Detach" trace confirm the correct port.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794760"/>
            <a:ext cx="6583680" cy="2788920"/>
          </a:xfrm>
          <a:prstGeom prst="roundRect">
            <a:avLst>
              <a:gd name="adj" fmla="val 3934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05840" y="3977640"/>
            <a:ext cx="548640" cy="548640"/>
          </a:xfrm>
          <a:prstGeom prst="ellipse">
            <a:avLst/>
          </a:prstGeom>
          <a:solidFill>
            <a:srgbClr val="39D2C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977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395935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 — Recording Power Capabilities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737360" y="4389120"/>
            <a:ext cx="53035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operates as a "sink", drawing power from a common phone charger. The PDOs in STM32CubeMonitor show the available voltages/currents; this thesis focuses on fixed values.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0920" y="4023360"/>
            <a:ext cx="416052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0" descr="/home/claude/build/img/image10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452360" y="4114800"/>
            <a:ext cx="3977640" cy="4754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452360" y="4709160"/>
            <a:ext cx="39776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SRC_CAPABILITIES excerpt from the Monitor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9" name="Text 16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— Voltage Selection via Joystick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joystick buttons are each mapped to one of the four user LEDs, allowing the user to select the desired voltage.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0E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6888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68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5V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40080" y="3703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LED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51560" y="406908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1" name="Image 0" descr="/home/claude/build/img/image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4160520"/>
            <a:ext cx="2514600" cy="123444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77240" y="5440680"/>
            <a:ext cx="32461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/home/claude/build/img/image17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68680" y="5532120"/>
            <a:ext cx="3063240" cy="8229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43400" y="224028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0E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0" y="246888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39D2C0"/>
          </a:solidFill>
          <a:ln/>
        </p:spPr>
      </p:sp>
      <p:sp>
        <p:nvSpPr>
          <p:cNvPr id="16" name="Text 12"/>
          <p:cNvSpPr/>
          <p:nvPr/>
        </p:nvSpPr>
        <p:spPr>
          <a:xfrm>
            <a:off x="4572000" y="2468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 Arrow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343400" y="30632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9V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4343400" y="3703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754880" y="406908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0" name="Image 2" descr="/home/claude/build/img/image15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846320" y="4160520"/>
            <a:ext cx="2514600" cy="1234440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4480560" y="5440680"/>
            <a:ext cx="32461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2" name="Image 3" descr="/home/claude/build/img/image12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0" y="5532120"/>
            <a:ext cx="3063240" cy="82296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8046720" y="2240280"/>
            <a:ext cx="3520440" cy="4251960"/>
          </a:xfrm>
          <a:prstGeom prst="roundRect">
            <a:avLst>
              <a:gd name="adj" fmla="val 3117"/>
            </a:avLst>
          </a:prstGeom>
          <a:solidFill>
            <a:srgbClr val="0E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275320" y="2468880"/>
            <a:ext cx="3063240" cy="502920"/>
          </a:xfrm>
          <a:prstGeom prst="roundRect">
            <a:avLst>
              <a:gd name="adj" fmla="val 14545"/>
            </a:avLst>
          </a:prstGeom>
          <a:solidFill>
            <a:srgbClr val="FF7A45"/>
          </a:solidFill>
          <a:ln/>
        </p:spPr>
      </p:sp>
      <p:sp>
        <p:nvSpPr>
          <p:cNvPr id="25" name="Text 19"/>
          <p:cNvSpPr/>
          <p:nvPr/>
        </p:nvSpPr>
        <p:spPr>
          <a:xfrm>
            <a:off x="8275320" y="246888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Arrow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8046720" y="3063240"/>
            <a:ext cx="3520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12V</a:t>
            </a:r>
            <a:endParaRPr lang="en-US" sz="3000" dirty="0"/>
          </a:p>
        </p:txBody>
      </p:sp>
      <p:sp>
        <p:nvSpPr>
          <p:cNvPr id="27" name="Text 21"/>
          <p:cNvSpPr/>
          <p:nvPr/>
        </p:nvSpPr>
        <p:spPr>
          <a:xfrm>
            <a:off x="8046720" y="37033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LED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8458200" y="4069080"/>
            <a:ext cx="2697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9" name="Image 4" descr="/home/claude/build/img/image14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549640" y="4160520"/>
            <a:ext cx="2514600" cy="1234440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8183880" y="5440680"/>
            <a:ext cx="32461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31" name="Image 5" descr="/home/claude/build/img/image19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275320" y="5532120"/>
            <a:ext cx="3063240" cy="8229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33" name="Shape 25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34" name="Text 26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PROCESS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Diploma Thesis Procedure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37260" y="2171700"/>
            <a:ext cx="685800" cy="685800"/>
          </a:xfrm>
          <a:prstGeom prst="ellipse">
            <a:avLst/>
          </a:prstGeom>
          <a:solidFill>
            <a:srgbClr val="FFB020">
              <a:alpha val="20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8710" y="2343150"/>
            <a:ext cx="342900" cy="342900"/>
          </a:xfrm>
          <a:prstGeom prst="octagon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20040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 — Confirming the Voltage Selection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840480"/>
            <a:ext cx="4526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selection is confirmed by monitoring traces in STM32CubeMonitor in real time, and by measuring the voltage at the USBPD point (JP1) with a multimeter.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257800" cy="4023360"/>
          </a:xfrm>
          <a:prstGeom prst="roundRect">
            <a:avLst>
              <a:gd name="adj" fmla="val 2727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60820" y="2171700"/>
            <a:ext cx="685800" cy="685800"/>
          </a:xfrm>
          <a:prstGeom prst="ellipse">
            <a:avLst/>
          </a:prstGeom>
          <a:solidFill>
            <a:srgbClr val="39D2C0">
              <a:alpha val="20000"/>
            </a:srgbClr>
          </a:solidFill>
          <a:ln w="15875">
            <a:solidFill>
              <a:srgbClr val="39D2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32270" y="2343150"/>
            <a:ext cx="342900" cy="342900"/>
          </a:xfrm>
          <a:prstGeom prst="circularArrow">
            <a:avLst/>
          </a:prstGeom>
          <a:solidFill>
            <a:srgbClr val="39D2C0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320040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User-Driven Voltage Change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3840480"/>
            <a:ext cx="4526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can continuously change the selected voltage via the joystick without affecting functionality; each new choice is re-verified.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&amp; Explanation of USB-PD Traces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600200"/>
            <a:ext cx="502920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build/img/image1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691640"/>
            <a:ext cx="4846320" cy="4709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52160" y="2194560"/>
            <a:ext cx="5669280" cy="3657600"/>
          </a:xfrm>
          <a:prstGeom prst="roundRect">
            <a:avLst>
              <a:gd name="adj" fmla="val 3000"/>
            </a:avLst>
          </a:prstGeom>
          <a:solidFill>
            <a:srgbClr val="0E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195060" y="2537460"/>
            <a:ext cx="685800" cy="685800"/>
          </a:xfrm>
          <a:prstGeom prst="ellipse">
            <a:avLst/>
          </a:prstGeom>
          <a:solidFill>
            <a:srgbClr val="FFB020">
              <a:alpha val="20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66510" y="2708910"/>
            <a:ext cx="342900" cy="342900"/>
          </a:xfrm>
          <a:prstGeom prst="circularArrow">
            <a:avLst/>
          </a:prstGeom>
          <a:solidFill>
            <a:srgbClr val="FFB020"/>
          </a:solidFill>
          <a:ln/>
        </p:spPr>
      </p:sp>
      <p:sp>
        <p:nvSpPr>
          <p:cNvPr id="9" name="Text 6"/>
          <p:cNvSpPr/>
          <p:nvPr/>
        </p:nvSpPr>
        <p:spPr>
          <a:xfrm>
            <a:off x="6309360" y="3429000"/>
            <a:ext cx="49377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sequence shows the Sink device requesting a voltage change from the Source device. The request is accepted and the voltage is set to the desired value, through accept, acknowledge and state-change messages.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2" name="Text 9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and Functionality Verification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57276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 involved developing and progressively modifying a demo program in C, using Visual Studio Code and PlatformIO, with trace monitoring via STM32CubeMonitor.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834640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LED control via buttons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14400" y="438912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3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Semaphores are used to avoid interaction issues and synchronization problems.</a:t>
            </a:r>
            <a:endParaRPr lang="en-US" sz="1130" dirty="0"/>
          </a:p>
        </p:txBody>
      </p:sp>
      <p:sp>
        <p:nvSpPr>
          <p:cNvPr id="10" name="Shape 8"/>
          <p:cNvSpPr/>
          <p:nvPr/>
        </p:nvSpPr>
        <p:spPr>
          <a:xfrm>
            <a:off x="4297680" y="26060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26280" y="2834640"/>
            <a:ext cx="548640" cy="548640"/>
          </a:xfrm>
          <a:prstGeom prst="ellipse">
            <a:avLst/>
          </a:prstGeom>
          <a:solidFill>
            <a:srgbClr val="39D2C0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0" y="37033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capability recognition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572000" y="438912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3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function to read the charger's capabilities.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7955280" y="26060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2834640"/>
            <a:ext cx="548640" cy="548640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1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0" y="370332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Desired voltage selection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0" y="438912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50"/>
              </a:lnSpc>
              <a:buNone/>
            </a:pPr>
            <a:r>
              <a:rPr lang="en-US" sz="113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the ability to select a voltage through a request.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22" name="Text 20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EXTENSIONS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Additional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2980" y="2125980"/>
            <a:ext cx="685800" cy="685800"/>
          </a:xfrm>
          <a:prstGeom prst="ellipse">
            <a:avLst/>
          </a:prstGeom>
          <a:solidFill>
            <a:srgbClr val="FFB020">
              <a:alpha val="20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54430" y="2297430"/>
            <a:ext cx="342900" cy="342900"/>
          </a:xfrm>
          <a:prstGeom prst="gear9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154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Programmable APDO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703320"/>
            <a:ext cx="4526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Extending the current settings to support APDO parameters.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voltage/current values allowed by the charger/source.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257800" cy="4160520"/>
          </a:xfrm>
          <a:prstGeom prst="roundRect">
            <a:avLst>
              <a:gd name="adj" fmla="val 2637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06540" y="2125980"/>
            <a:ext cx="685800" cy="685800"/>
          </a:xfrm>
          <a:prstGeom prst="ellipse">
            <a:avLst/>
          </a:prstGeom>
          <a:solidFill>
            <a:srgbClr val="39D2C0">
              <a:alpha val="20000"/>
            </a:srgbClr>
          </a:solidFill>
          <a:ln w="15875">
            <a:solidFill>
              <a:srgbClr val="39D2C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77990" y="2297430"/>
            <a:ext cx="342900" cy="342900"/>
          </a:xfrm>
          <a:prstGeom prst="bevel">
            <a:avLst/>
          </a:prstGeom>
          <a:solidFill>
            <a:srgbClr val="39D2C0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315468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Precise Measurement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629400" y="3703320"/>
            <a:ext cx="4526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an oscilloscope to monitor voltage changes with high precision in real time.</a:t>
            </a:r>
            <a:endParaRPr lang="en-US" sz="1250" dirty="0"/>
          </a:p>
          <a:p>
            <a:pPr algn="l"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operation stays within safe limits, avoiding overload/overvoltage.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6" name="Text 14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 from this Thesis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1874520"/>
          </a:xfrm>
          <a:prstGeom prst="roundRect">
            <a:avLst>
              <a:gd name="adj" fmla="val 5854"/>
            </a:avLst>
          </a:prstGeom>
          <a:solidFill>
            <a:srgbClr val="132B47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4420" y="2537460"/>
            <a:ext cx="685800" cy="685800"/>
          </a:xfrm>
          <a:prstGeom prst="ellipse">
            <a:avLst/>
          </a:prstGeom>
          <a:solidFill>
            <a:srgbClr val="FFB020">
              <a:alpha val="20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5870" y="2708910"/>
            <a:ext cx="342900" cy="342900"/>
          </a:xfrm>
          <a:prstGeom prst="sun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/>
          <p:nvPr/>
        </p:nvSpPr>
        <p:spPr>
          <a:xfrm>
            <a:off x="2057400" y="2148840"/>
            <a:ext cx="9189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gained a deep understanding of the USB Power Delivery protocol and its role in system power management, and learned to use tools such as STM32CubeMonitor to monitor and verify power parameters.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4023360"/>
            <a:ext cx="10881360" cy="1874520"/>
          </a:xfrm>
          <a:prstGeom prst="roundRect">
            <a:avLst>
              <a:gd name="adj" fmla="val 5854"/>
            </a:avLst>
          </a:prstGeom>
          <a:solidFill>
            <a:srgbClr val="0E2238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4420" y="4594860"/>
            <a:ext cx="685800" cy="685800"/>
          </a:xfrm>
          <a:prstGeom prst="ellipse">
            <a:avLst/>
          </a:prstGeom>
          <a:solidFill>
            <a:srgbClr val="39D2C0">
              <a:alpha val="20000"/>
            </a:srgbClr>
          </a:solidFill>
          <a:ln w="15875">
            <a:solidFill>
              <a:srgbClr val="39D2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45870" y="4766310"/>
            <a:ext cx="342900" cy="342900"/>
          </a:xfrm>
          <a:prstGeom prst="cube">
            <a:avLst/>
          </a:prstGeom>
          <a:solidFill>
            <a:srgbClr val="39D2C0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4206240"/>
            <a:ext cx="91897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9C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in C with Platform.io gave me hands-on experience with microcontroller programming. This thesis was an excellent introduction to embedded systems, hardware/software integration and problem-solving techniques.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57200" y="652881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4A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1475720" y="6419088"/>
            <a:ext cx="384048" cy="384048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14" name="Text 12"/>
          <p:cNvSpPr/>
          <p:nvPr/>
        </p:nvSpPr>
        <p:spPr>
          <a:xfrm>
            <a:off x="11475720" y="64190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ln w="19050">
            <a:solidFill>
              <a:srgbClr val="FFB020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822960" y="4663440"/>
            <a:ext cx="3291840" cy="3291840"/>
          </a:xfrm>
          <a:prstGeom prst="ellipse">
            <a:avLst/>
          </a:prstGeom>
          <a:ln w="19050">
            <a:solidFill>
              <a:srgbClr val="39D2C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4800600"/>
            <a:ext cx="822960" cy="822960"/>
          </a:xfrm>
          <a:prstGeom prst="ellipse">
            <a:avLst/>
          </a:prstGeom>
          <a:solidFill>
            <a:srgbClr val="FFB020">
              <a:alpha val="20000"/>
            </a:srgbClr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14500" y="5006340"/>
            <a:ext cx="411480" cy="411480"/>
          </a:xfrm>
          <a:prstGeom prst="lightningBolt">
            <a:avLst/>
          </a:prstGeom>
          <a:solidFill>
            <a:srgbClr val="FFB02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very much</a:t>
            </a:r>
            <a:endParaRPr lang="en-US" sz="3200" dirty="0"/>
          </a:p>
          <a:p>
            <a:pPr algn="ctr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your time and attention!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FFB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Power Delivery · STM32G474RE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2026-09-16T14:28:59Z</dcterms:created>
  <dcterms:modified xsi:type="dcterms:W3CDTF">2026-09-16T14:28:59Z</dcterms:modified>
</cp:coreProperties>
</file>